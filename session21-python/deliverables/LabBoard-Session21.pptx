
<file path=[Content_Types].xml><?xml version="1.0" encoding="utf-8"?>
<Types xmlns="http://schemas.openxmlformats.org/package/2006/content-types">
  <Default Extension="rels" ContentType="application/vnd.openxmlformats-package.relationships+xml"/>
  <Default Extension="xml" ContentType="applicatio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Default Extension="png" ContentType="image/png"/>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presentation.xml" ContentType="application/vnd.openxmlformats-officedocument.presentationml.presentation.main+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en-GB"/>
    </a:defPPr>
    <a:lvl1pPr marL="0" algn="l">
      <a:defRPr sz="1800">
        <a:latin typeface="+mn-lt"/>
      </a:defRPr>
    </a:lvl1pPr>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theme" Target="theme/theme1.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p:spPr>
      </p:sp>
      <p:sp>
        <p:nvSpPr>
          <p:cNvPr id="3" name="Notes Placeholder 2"/>
          <p:cNvSpPr>
            <a:spLocks noGrp="1"/>
          </p:cNvSpPr>
          <p:nvPr>
            <p:ph type="body" idx="1"/>
          </p:nvPr>
        </p:nvSpPr>
        <p:spPr>
          <a:xfrm>
            <a:off x="685800" y="4343400"/>
            <a:ext cx="5486400" cy="4114800"/>
          </a:xfrm>
          <a:prstGeom prst="rect">
            <a:avLst/>
          </a:prstGeom>
        </p:spPr>
        <p:txBody>
          <a:bodyPr/>
          <a:lstStyle/>
          <a:p>
            <a:r>
              <a:rPr lang="en-GB"/>
              <a:t>Notes</a:t>
            </a:r>
          </a:p>
        </p:txBody>
      </p:sp>
    </p:spTree>
  </p:cSld>
  <p:clrMap bg1="lt1" tx1="dk1" bg2="lt2" tx2="dk2" accent1="accent1" accent2="accent2" accent3="accent3" accent4="accent4" accent5="accent5" accent6="accent6" hlink="hlink" folHlink="folHlink"/>
  <p:notesStyle>
    <a:lvl1pPr>
      <a:defRPr sz="1200">
        <a:solidFill>
          <a:schemeClr val="tx1"/>
        </a:solidFill>
        <a:latin typeface="+mn-lt"/>
      </a:defRPr>
    </a:lvl1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Hello, I am Vedanshu Nishad. LabBoard is my Session 21 project: a website for tracking DevOps lab work. I will explain what it does, why I built it, the tools behind it and the evidence that its delivery process works.</a:t>
            </a:r>
          </a:p>
          <a:p>
            <a:r>
              <a:rPr lang="en-GB"/>
              <a:t/>
            </a:r>
          </a:p>
          <a:p>
            <a:r>
              <a:rPr lang="en-GB"/>
              <a:t>Sources:</a:t>
            </a:r>
          </a:p>
          <a:p>
            <a:r>
              <a:rPr lang="en-GB"/>
              <a:t>session21-python/README.md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LabBoard is a small website for organising my coursework. I can add tasks and notes, choose their priority and update their progress. A list and a board are two views of the same saved work. The database keeps changes after the page is refreshed. This screenshot shows the actual application.</a:t>
            </a:r>
          </a:p>
          <a:p>
            <a:r>
              <a:rPr lang="en-GB"/>
              <a:t/>
            </a:r>
          </a:p>
          <a:p>
            <a:r>
              <a:rPr lang="en-GB"/>
              <a:t>Sources:</a:t>
            </a:r>
          </a:p>
          <a:p>
            <a:r>
              <a:rPr lang="en-GB"/>
              <a:t>session21-python/README.md</a:t>
            </a:r>
          </a:p>
          <a:p>
            <a:r>
              <a:rPr lang="en-GB"/>
              <a:t>session21-python/frontend/src/main.jsx</a:t>
            </a:r>
          </a:p>
          <a:p>
            <a:r>
              <a:rPr lang="en-GB"/>
              <a:t>session21-python/Outputs/ui-list.png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practical purpose is to keep DevOps lab tasks and notes in one place. The learning purpose is broader: a feature also needs a dependable way to reach a running application. This project connects the application to repeatable checks, packaging, deployment and monitoring.</a:t>
            </a:r>
          </a:p>
          <a:p>
            <a:r>
              <a:rPr lang="en-GB"/>
              <a:t/>
            </a:r>
          </a:p>
          <a:p>
            <a:r>
              <a:rPr lang="en-GB"/>
              <a:t>Sources:</a:t>
            </a:r>
          </a:p>
          <a:p>
            <a:r>
              <a:rPr lang="en-GB"/>
              <a:t>session21-python/README.md</a:t>
            </a:r>
          </a:p>
          <a:p>
            <a:r>
              <a:rPr lang="en-GB"/>
              <a:t>../DevOps Homework.md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technology stack is simply the set of tools used to build the project. React creates the pages and task controls, while Nginx serves the finished website. Python and FastAPI process requests such as creating a task. PostgreSQL stores the saved data. Docker packages the parts, and Compose starts the website, application service and database together.</a:t>
            </a:r>
          </a:p>
          <a:p>
            <a:r>
              <a:rPr lang="en-GB"/>
              <a:t/>
            </a:r>
          </a:p>
          <a:p>
            <a:r>
              <a:rPr lang="en-GB"/>
              <a:t>Sources:</a:t>
            </a:r>
          </a:p>
          <a:p>
            <a:r>
              <a:rPr lang="en-GB"/>
              <a:t>session21-python/frontend/package.json</a:t>
            </a:r>
          </a:p>
          <a:p>
            <a:r>
              <a:rPr lang="en-GB"/>
              <a:t>session21-python/frontend/Dockerfile</a:t>
            </a:r>
          </a:p>
          <a:p>
            <a:r>
              <a:rPr lang="en-GB"/>
              <a:t>session21-python/backend/app/main.py</a:t>
            </a:r>
          </a:p>
          <a:p>
            <a:r>
              <a:rPr lang="en-GB"/>
              <a:t>session21-python/docker-compose.yml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These tools help deliver and operate the application. Git and GitHub keep the code and its history. GitHub Actions runs automated checks, and GHCR stores packaged versions. Kubernetes manages running copies, with Helm holding their setup. Prometheus and Grafana show application activity. Argo CD keeps the running setup aligned with the version saved in Git. Terraform describes the cloud infrastructure that AWS provides.</a:t>
            </a:r>
          </a:p>
          <a:p>
            <a:r>
              <a:rPr lang="en-GB"/>
              <a:t/>
            </a:r>
          </a:p>
          <a:p>
            <a:r>
              <a:rPr lang="en-GB"/>
              <a:t>Sources:</a:t>
            </a:r>
          </a:p>
          <a:p>
            <a:r>
              <a:rPr lang="en-GB"/>
              <a:t>.github/workflows/session21-ci-cd.yml</a:t>
            </a:r>
          </a:p>
          <a:p>
            <a:r>
              <a:rPr lang="en-GB"/>
              <a:t>session21-python/helm/taskboard/</a:t>
            </a:r>
          </a:p>
          <a:p>
            <a:r>
              <a:rPr lang="en-GB"/>
              <a:t>session21-python/gitops/application.yaml</a:t>
            </a:r>
          </a:p>
          <a:p>
            <a:r>
              <a:rPr lang="en-GB"/>
              <a:t>session21-python/monitoring/prometheus-values.yaml</a:t>
            </a:r>
          </a:p>
          <a:p>
            <a:r>
              <a:rPr lang="en-GB"/>
              <a:t>session21-python/terraform/main.tf</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 started with the supplied TaskBoard reference, then adapted it for DevOps lab work. My changes include the interface, tests, security fixes and delivery automation. I packaged the application with Docker, automated the checks, and verified a Kubernetes deployment. I checked that tasks survived a database restart and that monitoring and automatic setup repair worked. I also provisioned a temporary cloud environment with Terraform, saved the results and cleaned it up.</a:t>
            </a:r>
          </a:p>
          <a:p>
            <a:r>
              <a:rPr lang="en-GB"/>
              <a:t/>
            </a:r>
          </a:p>
          <a:p>
            <a:r>
              <a:rPr lang="en-GB"/>
              <a:t>Sources:</a:t>
            </a:r>
          </a:p>
          <a:p>
            <a:r>
              <a:rPr lang="en-GB"/>
              <a:t>session21-python/README.md</a:t>
            </a:r>
          </a:p>
          <a:p>
            <a:r>
              <a:rPr lang="en-GB"/>
              <a:t>.github/workflows/session21-ci-cd.yml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 repository is the project folder plus its change history. This is the actual GitHub page for my Session 21 branch. It keeps the application, setup files, workflow and evidence together, so someone else can inspect the work and follow the instructions.</a:t>
            </a:r>
          </a:p>
          <a:p>
            <a:r>
              <a:rPr lang="en-GB"/>
              <a:t/>
            </a:r>
          </a:p>
          <a:p>
            <a:r>
              <a:rPr lang="en-GB"/>
              <a:t>Sources:</a:t>
            </a:r>
          </a:p>
          <a:p>
            <a:r>
              <a:rPr lang="en-GB"/>
              <a:t>https://github.com/vedanshun05/devops-heros/tree/session21-python/session21-python</a:t>
            </a:r>
          </a:p>
          <a:p>
            <a:r>
              <a:rPr lang="en-GB"/>
              <a:t>session21-python/Outputs/github-repository.png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CI/CD means continuous integration and continuous delivery. In plain language, a code change starts an automated sequence of checks and release steps. This actual GitHub Actions run completed five jobs successfully. It tested the application, ran security checks, published packaged versions, verified deployment in a temporary Kubernetes environment and updated the saved deployment configuration. A failed required check stops the later stages.</a:t>
            </a:r>
          </a:p>
          <a:p>
            <a:r>
              <a:rPr lang="en-GB"/>
              <a:t/>
            </a:r>
          </a:p>
          <a:p>
            <a:r>
              <a:rPr lang="en-GB"/>
              <a:t>Sources:</a:t>
            </a:r>
          </a:p>
          <a:p>
            <a:r>
              <a:rPr lang="en-GB"/>
              <a:t>https://github.com/vedanshun05/devops-heros/actions/runs/38303472047</a:t>
            </a:r>
          </a:p>
          <a:p>
            <a:r>
              <a:rPr lang="en-GB"/>
              <a:t>.github/workflows/session21-ci-cd.yml</a:t>
            </a:r>
          </a:p>
          <a:p>
            <a:r>
              <a:rPr lang="en-GB"/>
              <a:t>session21-python/Outputs/github-pipeline.png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 container is a packaged part of the application. Docker Compose starts the website, application service and PostgreSQL database together using one setup file. In this recorded output, all three services are Up and the database is healthy. The health request also succeeds. This screenshot records the working check, rather than claiming the services are running at the moment the slides are viewed.</a:t>
            </a:r>
          </a:p>
          <a:p>
            <a:r>
              <a:rPr lang="en-GB"/>
              <a:t/>
            </a:r>
          </a:p>
          <a:p>
            <a:r>
              <a:rPr lang="en-GB"/>
              <a:t>Sources:</a:t>
            </a:r>
          </a:p>
          <a:p>
            <a:r>
              <a:rPr lang="en-GB"/>
              <a:t>session21-python/docker-compose.yml</a:t>
            </a:r>
          </a:p>
          <a:p>
            <a:r>
              <a:rPr lang="en-GB"/>
              <a:t>session21-python/Outputs/docker-verification.png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Kubernetes manages running copies of the application. It can replace failed copies and scale the backend according to the configured rules. Each small running unit is called a pod. The recorded screenshot shows two website pods, two application-service pods and one database pod in the local Minikube environment. The rows marked Running are the evidence to focus on.</a:t>
            </a:r>
          </a:p>
          <a:p>
            <a:r>
              <a:rPr lang="en-GB"/>
              <a:t/>
            </a:r>
          </a:p>
          <a:p>
            <a:r>
              <a:rPr lang="en-GB"/>
              <a:t>Sources:</a:t>
            </a:r>
          </a:p>
          <a:p>
            <a:r>
              <a:rPr lang="en-GB"/>
              <a:t>session21-python/helm/taskboard/templates/</a:t>
            </a:r>
          </a:p>
          <a:p>
            <a:r>
              <a:rPr lang="en-GB"/>
              <a:t>session21-python/helm/taskboard/values.yaml</a:t>
            </a:r>
          </a:p>
          <a:p>
            <a:r>
              <a:rPr lang="en-GB"/>
              <a:t>session21-python/Outputs/kubernetes.png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 checked behaviour beyond whether the home page loads. Ten automated tests cover task handling, validation and service checks. A saved task survived replacing the database pod. Monitoring displayed request counts and resource use. Argo CD also repaired a manual difference between the running setup and the configuration saved in Git. These are recorded checks, with the detailed evidence retained in the repository.</a:t>
            </a:r>
          </a:p>
          <a:p>
            <a:r>
              <a:rPr lang="en-GB"/>
              <a:t/>
            </a:r>
          </a:p>
          <a:p>
            <a:r>
              <a:rPr lang="en-GB"/>
              <a:t>Sources:</a:t>
            </a:r>
          </a:p>
          <a:p>
            <a:r>
              <a:rPr lang="en-GB"/>
              <a:t>session21-python/backend/tests/test_api.py</a:t>
            </a:r>
          </a:p>
          <a:p>
            <a:r>
              <a:rPr lang="en-GB"/>
              <a:t>session21-python/Outputs/pvc-persistence.png</a:t>
            </a:r>
          </a:p>
          <a:p>
            <a:r>
              <a:rPr lang="en-GB"/>
              <a:t>session21-python/Outputs/grafana-dashboard.png</a:t>
            </a:r>
          </a:p>
          <a:p>
            <a:r>
              <a:rPr lang="en-GB"/>
              <a:t>session21-python/Outputs/gitops-self-heal.png</a:t>
            </a:r>
          </a:p>
          <a:p>
            <a:r>
              <a:rPr lang="en-GB"/>
              <a:t>session21-python/README.md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is a comparison of options explained after the build, rather than a claim that I benchmarked alternatives. PostgreSQL suits the shared database used by several application copies. SQLite is simpler for local storage and is already used for isolated tests here. GitHub Actions fits this GitHub repository, while Jenkins gives more control over a separate automation server and also requires its upkeep. Kubernetes and Helm demonstrate scaling and recovery, while a Compose-only setup is simpler for a small local tracker. These are choices for the course objectives, not a claim that every small application needs Kubernetes.</a:t>
            </a:r>
          </a:p>
          <a:p>
            <a:r>
              <a:rPr lang="en-GB"/>
              <a:t/>
            </a:r>
          </a:p>
          <a:p>
            <a:r>
              <a:rPr lang="en-GB"/>
              <a:t>Sources:</a:t>
            </a:r>
          </a:p>
          <a:p>
            <a:r>
              <a:rPr lang="en-GB"/>
              <a:t>session21-python/docker-compose.yml</a:t>
            </a:r>
          </a:p>
          <a:p>
            <a:r>
              <a:rPr lang="en-GB"/>
              <a:t>session21-python/backend/tests/test_api.py</a:t>
            </a:r>
          </a:p>
          <a:p>
            <a:r>
              <a:rPr lang="en-GB"/>
              <a:t>https://www.sqlite.org/whentouse.html</a:t>
            </a:r>
          </a:p>
          <a:p>
            <a:r>
              <a:rPr lang="en-GB"/>
              <a:t>https://docs.github.com/en/actions/get-started/understand-github-actions</a:t>
            </a:r>
          </a:p>
          <a:p>
            <a:r>
              <a:rPr lang="en-GB"/>
              <a:t>https://www.jenkins.io/doc/book/installing/</a:t>
            </a:r>
          </a:p>
          <a:p>
            <a:r>
              <a:rPr lang="en-GB"/>
              <a:t>https://kubernetes.io/docs/concepts/overview/</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Terraform describes the cloud setup as repeatable instructions, and AWS provides the resources. I created a temporary practice network, managed Kubernetes infrastructure and image storage. I recorded the provisioning and cleanup results, then removed the main lab resources. The application demonstration runs locally on Minikube, while the cloud exercise verified infrastructure. The encryption key has a scheduled deletion date of 8 November 2026, as shown in the saved output.</a:t>
            </a:r>
          </a:p>
          <a:p>
            <a:r>
              <a:rPr lang="en-GB"/>
              <a:t/>
            </a:r>
          </a:p>
          <a:p>
            <a:r>
              <a:rPr lang="en-GB"/>
              <a:t>Sources:</a:t>
            </a:r>
          </a:p>
          <a:p>
            <a:r>
              <a:rPr lang="en-GB"/>
              <a:t>session21-python/terraform/main.tf</a:t>
            </a:r>
          </a:p>
          <a:p>
            <a:r>
              <a:rPr lang="en-GB"/>
              <a:t>session21-python/Outputs/aws-infrastructure.png</a:t>
            </a:r>
          </a:p>
          <a:p>
            <a:r>
              <a:rPr lang="en-GB"/>
              <a:t>session21-python/Outputs/aws-cleanup.png</a:t>
            </a:r>
          </a:p>
          <a:p>
            <a:r>
              <a:rPr lang="en-GB"/>
              <a:t>session21-python/README.md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LabBoard is a working task tracker with a repeatable delivery process. The project demonstrates how an application can be checked, packaged and run with operational evidence. The slides include the four requested screenshots: the repository, CI/CD pipeline, Docker Compose output and Kubernetes deployment. The repository contains the detailed technical instructions and recorded results for anyone who wants to inspect further.</a:t>
            </a:r>
          </a:p>
          <a:p>
            <a:r>
              <a:rPr lang="en-GB"/>
              <a:t/>
            </a:r>
          </a:p>
          <a:p>
            <a:r>
              <a:rPr lang="en-GB"/>
              <a:t>Sources:</a:t>
            </a:r>
          </a:p>
          <a:p>
            <a:r>
              <a:rPr lang="en-GB"/>
              <a:t>session21-python/README.md</a:t>
            </a:r>
          </a:p>
          <a:p>
            <a:r>
              <a:rPr lang="en-GB"/>
              <a:t>https://github.com/vedanshun05/devops-heros/tree/session21-python/session21-python</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defRPr sz="4400">
          <a:solidFill>
            <a:schemeClr val="tx1"/>
          </a:solidFill>
          <a:latin typeface="+mj-lt"/>
        </a:defRPr>
      </a:lvl1pPr>
    </p:titleStyle>
    <p:bodyStyle>
      <a:lvl1pPr algn="l">
        <a:defRPr sz="2400">
          <a:solidFill>
            <a:schemeClr val="tx1"/>
          </a:solidFill>
          <a:latin typeface="+mn-lt"/>
        </a:defRPr>
      </a:lvl1pPr>
    </p:bodyStyle>
    <p:otherStyle>
      <a:lvl1pPr algn="l">
        <a:defRPr sz="24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dia1.png"/><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dia2.png"/><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dia3.png"/><Relationship Id="rId3"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dia4.png"/><Relationship Id="rId3"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dia5.png"/><Relationship Id="rId3"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media6.png"/><Relationship Id="rId3"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vedanshun05/devops-heros/tree/session21-python/session21-python" TargetMode="Externa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15B48"/>
        </a:solidFill>
        <a:effectLst/>
      </p:bgPr>
    </p:bg>
    <p:spTree>
      <p:nvGrpSpPr>
        <p:cNvPr id="1" name=""/>
        <p:cNvGrpSpPr/>
        <p:nvPr/>
      </p:nvGrpSpPr>
      <p:grpSpPr>
        <a:xfrm>
          <a:off x="0" y="0"/>
          <a:ext cx="0" cy="0"/>
          <a:chOff x="0" y="0"/>
          <a:chExt cx="0" cy="0"/>
        </a:xfrm>
      </p:grpSpPr>
      <p:sp>
        <p:nvSpPr>
          <p:cNvPr id="2" name="Text 2"/>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E8EEE3"/>
                </a:solidFill>
                <a:latin typeface="Inter"/>
              </a:rPr>
              <a:t>01</a:t>
            </a:r>
            <a:endParaRPr lang="en-GB" sz="1200" b="0" i="0" u="none">
              <a:solidFill>
                <a:srgbClr val="E8EEE3"/>
              </a:solidFill>
              <a:latin typeface="Inter"/>
            </a:endParaRPr>
          </a:p>
        </p:txBody>
      </p:sp>
      <p:sp>
        <p:nvSpPr>
          <p:cNvPr id="3" name="Text 3"/>
          <p:cNvSpPr txBox="1"/>
          <p:nvPr/>
        </p:nvSpPr>
        <p:spPr>
          <a:xfrm>
            <a:off x="723900" y="1866900"/>
            <a:ext cx="10477500" cy="1238250"/>
          </a:xfrm>
          <a:prstGeom prst="rect">
            <a:avLst/>
          </a:prstGeom>
          <a:noFill/>
        </p:spPr>
        <p:txBody>
          <a:bodyPr wrap="square" lIns="0" tIns="0" rIns="0" bIns="0" rtlCol="0" anchor="t">
            <a:noAutofit/>
          </a:bodyPr>
          <a:lstStyle/>
          <a:p>
            <a:pPr algn="l">
              <a:buNone/>
            </a:pPr>
            <a:r>
              <a:rPr lang="en-GB" sz="7500" b="1" i="0" u="none">
                <a:solidFill>
                  <a:srgbClr val="FFFFFF"/>
                </a:solidFill>
                <a:latin typeface="Inter"/>
              </a:rPr>
              <a:t>LabBoard</a:t>
            </a:r>
            <a:endParaRPr lang="en-GB" sz="7500" b="1" i="0" u="none">
              <a:solidFill>
                <a:srgbClr val="FFFFFF"/>
              </a:solidFill>
              <a:latin typeface="Inter"/>
            </a:endParaRPr>
          </a:p>
        </p:txBody>
      </p:sp>
      <p:sp>
        <p:nvSpPr>
          <p:cNvPr id="4" name="Text 4"/>
          <p:cNvSpPr txBox="1"/>
          <p:nvPr/>
        </p:nvSpPr>
        <p:spPr>
          <a:xfrm>
            <a:off x="762000" y="3295650"/>
            <a:ext cx="10477500" cy="609600"/>
          </a:xfrm>
          <a:prstGeom prst="rect">
            <a:avLst/>
          </a:prstGeom>
          <a:noFill/>
        </p:spPr>
        <p:txBody>
          <a:bodyPr wrap="square" lIns="0" tIns="0" rIns="0" bIns="0" rtlCol="0" anchor="t">
            <a:noAutofit/>
          </a:bodyPr>
          <a:lstStyle/>
          <a:p>
            <a:pPr algn="l">
              <a:buNone/>
            </a:pPr>
            <a:r>
              <a:rPr lang="en-GB" sz="2850" b="0" i="0" u="none">
                <a:solidFill>
                  <a:srgbClr val="FFFFFF"/>
                </a:solidFill>
                <a:latin typeface="Inter"/>
              </a:rPr>
              <a:t>A tracker for DevOps lab work</a:t>
            </a:r>
            <a:endParaRPr lang="en-GB" sz="2850" b="0" i="0" u="none">
              <a:solidFill>
                <a:srgbClr val="FFFFFF"/>
              </a:solidFill>
              <a:latin typeface="Inter"/>
            </a:endParaRPr>
          </a:p>
        </p:txBody>
      </p:sp>
      <p:sp>
        <p:nvSpPr>
          <p:cNvPr id="5" name="Text 5"/>
          <p:cNvSpPr txBox="1"/>
          <p:nvPr/>
        </p:nvSpPr>
        <p:spPr>
          <a:xfrm>
            <a:off x="762000" y="5000625"/>
            <a:ext cx="9525000" cy="400050"/>
          </a:xfrm>
          <a:prstGeom prst="rect">
            <a:avLst/>
          </a:prstGeom>
          <a:noFill/>
        </p:spPr>
        <p:txBody>
          <a:bodyPr wrap="square" lIns="0" tIns="0" rIns="0" bIns="0" rtlCol="0" anchor="t">
            <a:noAutofit/>
          </a:bodyPr>
          <a:lstStyle/>
          <a:p>
            <a:pPr algn="l">
              <a:buNone/>
            </a:pPr>
            <a:r>
              <a:rPr lang="en-GB" sz="2100" b="0" i="0" u="none">
                <a:solidFill>
                  <a:srgbClr val="E8EEE3"/>
                </a:solidFill>
                <a:latin typeface="Inter"/>
              </a:rPr>
              <a:t>Vedanshu Nishad</a:t>
            </a:r>
            <a:endParaRPr lang="en-GB" sz="2100" b="0" i="0" u="none">
              <a:solidFill>
                <a:srgbClr val="E8EEE3"/>
              </a:solidFill>
              <a:latin typeface="Inter"/>
            </a:endParaRPr>
          </a:p>
        </p:txBody>
      </p:sp>
      <p:sp>
        <p:nvSpPr>
          <p:cNvPr id="6" name="Text 6"/>
          <p:cNvSpPr txBox="1"/>
          <p:nvPr/>
        </p:nvSpPr>
        <p:spPr>
          <a:xfrm>
            <a:off x="762000" y="5476875"/>
            <a:ext cx="10477500" cy="400050"/>
          </a:xfrm>
          <a:prstGeom prst="rect">
            <a:avLst/>
          </a:prstGeom>
          <a:noFill/>
        </p:spPr>
        <p:txBody>
          <a:bodyPr wrap="square" lIns="0" tIns="0" rIns="0" bIns="0" rtlCol="0" anchor="t">
            <a:noAutofit/>
          </a:bodyPr>
          <a:lstStyle/>
          <a:p>
            <a:pPr algn="l">
              <a:buNone/>
            </a:pPr>
            <a:r>
              <a:rPr lang="en-GB" sz="1875" b="0" i="0" u="none">
                <a:solidFill>
                  <a:srgbClr val="E8EEE3"/>
                </a:solidFill>
                <a:latin typeface="Inter"/>
              </a:rPr>
              <a:t>Session 21 Final Project</a:t>
            </a:r>
            <a:endParaRPr lang="en-GB" sz="1875" b="0" i="0" u="none">
              <a:solidFill>
                <a:srgbClr val="E8EEE3"/>
              </a:solidFill>
              <a:latin typeface="Inter"/>
            </a:endParaRP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What I built</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02</a:t>
            </a:r>
            <a:endParaRPr lang="en-GB" sz="1200" b="0" i="0" u="none">
              <a:solidFill>
                <a:srgbClr val="637169"/>
              </a:solidFill>
              <a:latin typeface="Inter"/>
            </a:endParaRPr>
          </a:p>
        </p:txBody>
      </p:sp>
      <p:sp>
        <p:nvSpPr>
          <p:cNvPr id="4" name="Text 4"/>
          <p:cNvSpPr txBox="1"/>
          <p:nvPr/>
        </p:nvSpPr>
        <p:spPr>
          <a:xfrm>
            <a:off x="609600" y="1657350"/>
            <a:ext cx="30480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Keep work organised</a:t>
            </a:r>
            <a:endParaRPr lang="en-GB" sz="2175" b="1" i="0" u="none">
              <a:solidFill>
                <a:srgbClr val="315B48"/>
              </a:solidFill>
              <a:latin typeface="Inter"/>
            </a:endParaRPr>
          </a:p>
        </p:txBody>
      </p:sp>
      <p:sp>
        <p:nvSpPr>
          <p:cNvPr id="5" name="Text 5"/>
          <p:cNvSpPr txBox="1"/>
          <p:nvPr/>
        </p:nvSpPr>
        <p:spPr>
          <a:xfrm>
            <a:off x="609600" y="2171700"/>
            <a:ext cx="3048000" cy="1104900"/>
          </a:xfrm>
          <a:prstGeom prst="rect">
            <a:avLst/>
          </a:prstGeom>
          <a:noFill/>
        </p:spPr>
        <p:txBody>
          <a:bodyPr wrap="square" lIns="0" tIns="0" rIns="0" bIns="0" rtlCol="0" anchor="t">
            <a:noAutofit/>
          </a:bodyPr>
          <a:lstStyle/>
          <a:p>
            <a:pPr algn="l">
              <a:buNone/>
            </a:pPr>
            <a:r>
              <a:rPr lang="en-GB" sz="1950" b="0" i="0" u="none">
                <a:solidFill>
                  <a:srgbClr val="25372E"/>
                </a:solidFill>
                <a:latin typeface="Inter"/>
              </a:rPr>
              <a:t>Add tasks and notes.</a:t>
            </a:r>
            <a:endParaRPr lang="en-GB" sz="1950" b="0" i="0" u="none">
              <a:solidFill>
                <a:srgbClr val="25372E"/>
              </a:solidFill>
              <a:latin typeface="Inter"/>
            </a:endParaRPr>
          </a:p>
          <a:p>
            <a:pPr algn="l">
              <a:buNone/>
            </a:pPr>
            <a:r>
              <a:rPr lang="en-GB" sz="1950" b="0" i="0" u="none">
                <a:solidFill>
                  <a:srgbClr val="25372E"/>
                </a:solidFill>
                <a:latin typeface="Inter"/>
              </a:rPr>
              <a:t>Set a priority and an owner.</a:t>
            </a:r>
            <a:endParaRPr lang="en-GB" sz="1950" b="0" i="0" u="none">
              <a:solidFill>
                <a:srgbClr val="25372E"/>
              </a:solidFill>
              <a:latin typeface="Inter"/>
            </a:endParaRPr>
          </a:p>
        </p:txBody>
      </p:sp>
      <p:sp>
        <p:nvSpPr>
          <p:cNvPr id="6" name="Text 6"/>
          <p:cNvSpPr txBox="1"/>
          <p:nvPr/>
        </p:nvSpPr>
        <p:spPr>
          <a:xfrm>
            <a:off x="609600" y="3429000"/>
            <a:ext cx="30480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See progress</a:t>
            </a:r>
            <a:endParaRPr lang="en-GB" sz="2175" b="1" i="0" u="none">
              <a:solidFill>
                <a:srgbClr val="315B48"/>
              </a:solidFill>
              <a:latin typeface="Inter"/>
            </a:endParaRPr>
          </a:p>
        </p:txBody>
      </p:sp>
      <p:sp>
        <p:nvSpPr>
          <p:cNvPr id="7" name="Text 7"/>
          <p:cNvSpPr txBox="1"/>
          <p:nvPr/>
        </p:nvSpPr>
        <p:spPr>
          <a:xfrm>
            <a:off x="609600" y="3943350"/>
            <a:ext cx="3048000" cy="1104900"/>
          </a:xfrm>
          <a:prstGeom prst="rect">
            <a:avLst/>
          </a:prstGeom>
          <a:noFill/>
        </p:spPr>
        <p:txBody>
          <a:bodyPr wrap="square" lIns="0" tIns="0" rIns="0" bIns="0" rtlCol="0" anchor="t">
            <a:noAutofit/>
          </a:bodyPr>
          <a:lstStyle/>
          <a:p>
            <a:pPr algn="l">
              <a:buNone/>
            </a:pPr>
            <a:r>
              <a:rPr lang="en-GB" sz="1950" b="0" i="0" u="none">
                <a:solidFill>
                  <a:srgbClr val="25372E"/>
                </a:solidFill>
                <a:latin typeface="Inter"/>
              </a:rPr>
              <a:t>Use a list or board.</a:t>
            </a:r>
            <a:endParaRPr lang="en-GB" sz="1950" b="0" i="0" u="none">
              <a:solidFill>
                <a:srgbClr val="25372E"/>
              </a:solidFill>
              <a:latin typeface="Inter"/>
            </a:endParaRPr>
          </a:p>
          <a:p>
            <a:pPr algn="l">
              <a:buNone/>
            </a:pPr>
            <a:r>
              <a:rPr lang="en-GB" sz="1950" b="0" i="0" u="none">
                <a:solidFill>
                  <a:srgbClr val="25372E"/>
                </a:solidFill>
                <a:latin typeface="Inter"/>
              </a:rPr>
              <a:t>Move work through its stages.</a:t>
            </a:r>
            <a:endParaRPr lang="en-GB" sz="1950" b="0" i="0" u="none">
              <a:solidFill>
                <a:srgbClr val="25372E"/>
              </a:solidFill>
              <a:latin typeface="Inter"/>
            </a:endParaRPr>
          </a:p>
        </p:txBody>
      </p:sp>
      <p:sp>
        <p:nvSpPr>
          <p:cNvPr id="8" name="Text 8"/>
          <p:cNvSpPr txBox="1"/>
          <p:nvPr/>
        </p:nvSpPr>
        <p:spPr>
          <a:xfrm>
            <a:off x="609600" y="5200650"/>
            <a:ext cx="30480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Save changes</a:t>
            </a:r>
            <a:endParaRPr lang="en-GB" sz="2175" b="1" i="0" u="none">
              <a:solidFill>
                <a:srgbClr val="315B48"/>
              </a:solidFill>
              <a:latin typeface="Inter"/>
            </a:endParaRPr>
          </a:p>
        </p:txBody>
      </p:sp>
      <p:sp>
        <p:nvSpPr>
          <p:cNvPr id="9" name="Text 9"/>
          <p:cNvSpPr txBox="1"/>
          <p:nvPr/>
        </p:nvSpPr>
        <p:spPr>
          <a:xfrm>
            <a:off x="609600" y="5715000"/>
            <a:ext cx="3048000" cy="1104900"/>
          </a:xfrm>
          <a:prstGeom prst="rect">
            <a:avLst/>
          </a:prstGeom>
          <a:noFill/>
        </p:spPr>
        <p:txBody>
          <a:bodyPr wrap="square" lIns="0" tIns="0" rIns="0" bIns="0" rtlCol="0" anchor="t">
            <a:noAutofit/>
          </a:bodyPr>
          <a:lstStyle/>
          <a:p>
            <a:pPr algn="l">
              <a:buNone/>
            </a:pPr>
            <a:r>
              <a:rPr lang="en-GB" sz="1950" b="0" i="0" u="none">
                <a:solidFill>
                  <a:srgbClr val="25372E"/>
                </a:solidFill>
                <a:latin typeface="Inter"/>
              </a:rPr>
              <a:t>Tasks remain available</a:t>
            </a:r>
            <a:endParaRPr lang="en-GB" sz="1950" b="0" i="0" u="none">
              <a:solidFill>
                <a:srgbClr val="25372E"/>
              </a:solidFill>
              <a:latin typeface="Inter"/>
            </a:endParaRPr>
          </a:p>
          <a:p>
            <a:pPr algn="l">
              <a:buNone/>
            </a:pPr>
            <a:r>
              <a:rPr lang="en-GB" sz="1950" b="0" i="0" u="none">
                <a:solidFill>
                  <a:srgbClr val="25372E"/>
                </a:solidFill>
                <a:latin typeface="Inter"/>
              </a:rPr>
              <a:t>after a page refresh.</a:t>
            </a:r>
            <a:endParaRPr lang="en-GB" sz="1950" b="0" i="0" u="none">
              <a:solidFill>
                <a:srgbClr val="25372E"/>
              </a:solidFill>
              <a:latin typeface="Inter"/>
            </a:endParaRPr>
          </a:p>
        </p:txBody>
      </p:sp>
      <p:pic>
        <p:nvPicPr>
          <p:cNvPr id="10" name="Picture 10" descr="LabBoard application showing the saved lab task list and task controls."/>
          <p:cNvPicPr/>
          <p:nvPr/>
        </p:nvPicPr>
        <p:blipFill>
          <a:blip r:embed="rId2"/>
          <a:stretch>
            <a:fillRect/>
          </a:stretch>
        </p:blipFill>
        <p:spPr>
          <a:xfrm>
            <a:off x="3985641" y="1409700"/>
            <a:ext cx="7516368" cy="5219700"/>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5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5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3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Why I built it</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03</a:t>
            </a:r>
            <a:endParaRPr lang="en-GB" sz="1200" b="0" i="0" u="none">
              <a:solidFill>
                <a:srgbClr val="637169"/>
              </a:solidFill>
              <a:latin typeface="Inter"/>
            </a:endParaRPr>
          </a:p>
        </p:txBody>
      </p:sp>
      <p:sp>
        <p:nvSpPr>
          <p:cNvPr id="4" name="Text 4"/>
          <p:cNvSpPr txBox="1"/>
          <p:nvPr/>
        </p:nvSpPr>
        <p:spPr>
          <a:xfrm>
            <a:off x="609600" y="1809750"/>
            <a:ext cx="109728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A useful coursework tool</a:t>
            </a:r>
            <a:endParaRPr lang="en-GB" sz="2175" b="1" i="0" u="none">
              <a:solidFill>
                <a:srgbClr val="315B48"/>
              </a:solidFill>
              <a:latin typeface="Inter"/>
            </a:endParaRPr>
          </a:p>
        </p:txBody>
      </p:sp>
      <p:sp>
        <p:nvSpPr>
          <p:cNvPr id="5" name="Text 5"/>
          <p:cNvSpPr txBox="1"/>
          <p:nvPr/>
        </p:nvSpPr>
        <p:spPr>
          <a:xfrm>
            <a:off x="609600" y="2324100"/>
            <a:ext cx="10972800" cy="1104900"/>
          </a:xfrm>
          <a:prstGeom prst="rect">
            <a:avLst/>
          </a:prstGeom>
          <a:noFill/>
        </p:spPr>
        <p:txBody>
          <a:bodyPr wrap="square" lIns="0" tIns="0" rIns="0" bIns="0" rtlCol="0" anchor="t">
            <a:noAutofit/>
          </a:bodyPr>
          <a:lstStyle/>
          <a:p>
            <a:pPr algn="l">
              <a:buNone/>
            </a:pPr>
            <a:r>
              <a:rPr lang="en-GB" sz="2325" b="0" i="0" u="none">
                <a:solidFill>
                  <a:srgbClr val="25372E"/>
                </a:solidFill>
                <a:latin typeface="Inter"/>
              </a:rPr>
              <a:t>Keep lab tasks and notes together.</a:t>
            </a:r>
            <a:endParaRPr lang="en-GB" sz="2325" b="0" i="0" u="none">
              <a:solidFill>
                <a:srgbClr val="25372E"/>
              </a:solidFill>
              <a:latin typeface="Inter"/>
            </a:endParaRPr>
          </a:p>
          <a:p>
            <a:pPr algn="l">
              <a:buNone/>
            </a:pPr>
            <a:r>
              <a:rPr lang="en-GB" sz="2325" b="0" i="0" u="none">
                <a:solidFill>
                  <a:srgbClr val="25372E"/>
                </a:solidFill>
                <a:latin typeface="Inter"/>
              </a:rPr>
              <a:t>See what is pending and what is finished.</a:t>
            </a:r>
            <a:endParaRPr lang="en-GB" sz="2325" b="0" i="0" u="none">
              <a:solidFill>
                <a:srgbClr val="25372E"/>
              </a:solidFill>
              <a:latin typeface="Inter"/>
            </a:endParaRPr>
          </a:p>
        </p:txBody>
      </p:sp>
      <p:sp>
        <p:nvSpPr>
          <p:cNvPr id="6" name="Text 6"/>
          <p:cNvSpPr txBox="1"/>
          <p:nvPr/>
        </p:nvSpPr>
        <p:spPr>
          <a:xfrm>
            <a:off x="609600" y="3905250"/>
            <a:ext cx="109728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A complete delivery exercise</a:t>
            </a:r>
            <a:endParaRPr lang="en-GB" sz="2175" b="1" i="0" u="none">
              <a:solidFill>
                <a:srgbClr val="315B48"/>
              </a:solidFill>
              <a:latin typeface="Inter"/>
            </a:endParaRPr>
          </a:p>
        </p:txBody>
      </p:sp>
      <p:sp>
        <p:nvSpPr>
          <p:cNvPr id="7" name="Text 7"/>
          <p:cNvSpPr txBox="1"/>
          <p:nvPr/>
        </p:nvSpPr>
        <p:spPr>
          <a:xfrm>
            <a:off x="609600" y="4419600"/>
            <a:ext cx="10972800" cy="1104900"/>
          </a:xfrm>
          <a:prstGeom prst="rect">
            <a:avLst/>
          </a:prstGeom>
          <a:noFill/>
        </p:spPr>
        <p:txBody>
          <a:bodyPr wrap="square" lIns="0" tIns="0" rIns="0" bIns="0" rtlCol="0" anchor="t">
            <a:noAutofit/>
          </a:bodyPr>
          <a:lstStyle/>
          <a:p>
            <a:pPr algn="l">
              <a:buNone/>
            </a:pPr>
            <a:r>
              <a:rPr lang="en-GB" sz="2325" b="0" i="0" u="none">
                <a:solidFill>
                  <a:srgbClr val="25372E"/>
                </a:solidFill>
                <a:latin typeface="Inter"/>
              </a:rPr>
              <a:t>Practise how a code change becomes</a:t>
            </a:r>
            <a:endParaRPr lang="en-GB" sz="2325" b="0" i="0" u="none">
              <a:solidFill>
                <a:srgbClr val="25372E"/>
              </a:solidFill>
              <a:latin typeface="Inter"/>
            </a:endParaRPr>
          </a:p>
          <a:p>
            <a:pPr algn="l">
              <a:buNone/>
            </a:pPr>
            <a:r>
              <a:rPr lang="en-GB" sz="2325" b="0" i="0" u="none">
                <a:solidFill>
                  <a:srgbClr val="25372E"/>
                </a:solidFill>
                <a:latin typeface="Inter"/>
              </a:rPr>
              <a:t>a checked, running application.</a:t>
            </a:r>
            <a:endParaRPr lang="en-GB" sz="2325" b="0" i="0" u="none">
              <a:solidFill>
                <a:srgbClr val="25372E"/>
              </a:solidFill>
              <a:latin typeface="Inter"/>
            </a:endParaRPr>
          </a:p>
        </p:txBody>
      </p:sp>
      <p:sp>
        <p:nvSpPr>
          <p:cNvPr id="8" name="Text 8"/>
          <p:cNvSpPr txBox="1"/>
          <p:nvPr/>
        </p:nvSpPr>
        <p:spPr>
          <a:xfrm>
            <a:off x="609600" y="5905500"/>
            <a:ext cx="109728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The goal: make the app useful and its delivery repeatable</a:t>
            </a:r>
            <a:endParaRPr lang="en-GB" sz="2175" b="1" i="0" u="none">
              <a:solidFill>
                <a:srgbClr val="315B48"/>
              </a:solidFill>
              <a:latin typeface="Inter"/>
            </a:endParaRP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5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Technology stack: the application</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04</a:t>
            </a:r>
            <a:endParaRPr lang="en-GB" sz="1200" b="0" i="0" u="none">
              <a:solidFill>
                <a:srgbClr val="637169"/>
              </a:solidFill>
              <a:latin typeface="Inter"/>
            </a:endParaRPr>
          </a:p>
        </p:txBody>
      </p:sp>
      <p:graphicFrame>
        <p:nvGraphicFramePr>
          <p:cNvPr id="4" name="Table 4" descr="Application stack: React and Nginx display the website, FastAPI handles requests, PostgreSQL stores data, and Docker Compose runs the parts together."/>
          <p:cNvGraphicFramePr/>
          <p:nvPr/>
        </p:nvGraphicFramePr>
        <p:xfrm>
          <a:off x="609600" y="1562100"/>
          <a:ext cx="10972800" cy="4343400"/>
        </p:xfrm>
        <a:graphic>
          <a:graphicData uri="http://schemas.openxmlformats.org/drawingml/2006/table">
            <a:tbl>
              <a:tblPr/>
              <a:tblGrid>
                <a:gridCol w="2533650"/>
                <a:gridCol w="3238500"/>
                <a:gridCol w="5200650"/>
              </a:tblGrid>
              <a:tr h="609600">
                <a:tc>
                  <a:txBody>
                    <a:bodyPr wrap="square" lIns="45720" tIns="45720" rIns="45720" bIns="45720" rtlCol="0" anchor="ctr">
                      <a:noAutofit/>
                    </a:bodyPr>
                    <a:lstStyle/>
                    <a:p>
                      <a:pPr algn="l">
                        <a:buNone/>
                      </a:pPr>
                      <a:r>
                        <a:rPr lang="en-GB" sz="1950" b="1" i="0" u="none">
                          <a:solidFill>
                            <a:srgbClr val="FFFFFF"/>
                          </a:solidFill>
                          <a:latin typeface="Inter"/>
                        </a:rPr>
                        <a:t>Part</a:t>
                      </a:r>
                      <a:endParaRPr lang="en-GB" sz="1950"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c>
                  <a:txBody>
                    <a:bodyPr wrap="square" lIns="45720" tIns="45720" rIns="45720" bIns="45720" rtlCol="0" anchor="ctr">
                      <a:noAutofit/>
                    </a:bodyPr>
                    <a:lstStyle/>
                    <a:p>
                      <a:pPr algn="l">
                        <a:buNone/>
                      </a:pPr>
                      <a:r>
                        <a:rPr lang="en-GB" sz="1950" b="1" i="0" u="none">
                          <a:solidFill>
                            <a:srgbClr val="FFFFFF"/>
                          </a:solidFill>
                          <a:latin typeface="Inter"/>
                        </a:rPr>
                        <a:t>Tools used</a:t>
                      </a:r>
                      <a:endParaRPr lang="en-GB" sz="1950"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c>
                  <a:txBody>
                    <a:bodyPr wrap="square" lIns="45720" tIns="45720" rIns="45720" bIns="45720" rtlCol="0" anchor="ctr">
                      <a:noAutofit/>
                    </a:bodyPr>
                    <a:lstStyle/>
                    <a:p>
                      <a:pPr algn="l">
                        <a:buNone/>
                      </a:pPr>
                      <a:r>
                        <a:rPr lang="en-GB" sz="1950" b="1" i="0" u="none">
                          <a:solidFill>
                            <a:srgbClr val="FFFFFF"/>
                          </a:solidFill>
                          <a:latin typeface="Inter"/>
                        </a:rPr>
                        <a:t>What it does</a:t>
                      </a:r>
                      <a:endParaRPr lang="en-GB" sz="1950"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r>
              <a:tr h="933450">
                <a:tc>
                  <a:txBody>
                    <a:bodyPr wrap="square" lIns="45720" tIns="45720" rIns="45720" bIns="45720" rtlCol="0" anchor="ctr">
                      <a:noAutofit/>
                    </a:bodyPr>
                    <a:lstStyle/>
                    <a:p>
                      <a:pPr algn="l">
                        <a:buNone/>
                      </a:pPr>
                      <a:r>
                        <a:rPr lang="en-GB" sz="1950" b="0" i="0" u="none">
                          <a:solidFill>
                            <a:srgbClr val="25372E"/>
                          </a:solidFill>
                          <a:latin typeface="Inter"/>
                        </a:rPr>
                        <a:t>Website</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950" b="0" i="0" u="none">
                          <a:solidFill>
                            <a:srgbClr val="25372E"/>
                          </a:solidFill>
                          <a:latin typeface="Inter"/>
                        </a:rPr>
                        <a:t>React / Nginx</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950" b="0" i="0" u="none">
                          <a:solidFill>
                            <a:srgbClr val="25372E"/>
                          </a:solidFill>
                          <a:latin typeface="Inter"/>
                        </a:rPr>
                        <a:t>Displays pages and task controls</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933450">
                <a:tc>
                  <a:txBody>
                    <a:bodyPr wrap="square" lIns="45720" tIns="45720" rIns="45720" bIns="45720" rtlCol="0" anchor="ctr">
                      <a:noAutofit/>
                    </a:bodyPr>
                    <a:lstStyle/>
                    <a:p>
                      <a:pPr algn="l">
                        <a:buNone/>
                      </a:pPr>
                      <a:r>
                        <a:rPr lang="en-GB" sz="1950" b="0" i="0" u="none">
                          <a:solidFill>
                            <a:srgbClr val="25372E"/>
                          </a:solidFill>
                          <a:latin typeface="Inter"/>
                        </a:rPr>
                        <a:t>Application logic</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950" b="0" i="0" u="none">
                          <a:solidFill>
                            <a:srgbClr val="25372E"/>
                          </a:solidFill>
                          <a:latin typeface="Inter"/>
                        </a:rPr>
                        <a:t>Python / FastAPI</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950" b="0" i="0" u="none">
                          <a:solidFill>
                            <a:srgbClr val="25372E"/>
                          </a:solidFill>
                          <a:latin typeface="Inter"/>
                        </a:rPr>
                        <a:t>Handles requests and task changes</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933450">
                <a:tc>
                  <a:txBody>
                    <a:bodyPr wrap="square" lIns="45720" tIns="45720" rIns="45720" bIns="45720" rtlCol="0" anchor="ctr">
                      <a:noAutofit/>
                    </a:bodyPr>
                    <a:lstStyle/>
                    <a:p>
                      <a:pPr algn="l">
                        <a:buNone/>
                      </a:pPr>
                      <a:r>
                        <a:rPr lang="en-GB" sz="1950" b="0" i="0" u="none">
                          <a:solidFill>
                            <a:srgbClr val="25372E"/>
                          </a:solidFill>
                          <a:latin typeface="Inter"/>
                        </a:rPr>
                        <a:t>Saved data</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950" b="0" i="0" u="none">
                          <a:solidFill>
                            <a:srgbClr val="25372E"/>
                          </a:solidFill>
                          <a:latin typeface="Inter"/>
                        </a:rPr>
                        <a:t>PostgreSQL</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950" b="0" i="0" u="none">
                          <a:solidFill>
                            <a:srgbClr val="25372E"/>
                          </a:solidFill>
                          <a:latin typeface="Inter"/>
                        </a:rPr>
                        <a:t>Stores tasks and notes</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933450">
                <a:tc>
                  <a:txBody>
                    <a:bodyPr wrap="square" lIns="45720" tIns="45720" rIns="45720" bIns="45720" rtlCol="0" anchor="ctr">
                      <a:noAutofit/>
                    </a:bodyPr>
                    <a:lstStyle/>
                    <a:p>
                      <a:pPr algn="l">
                        <a:buNone/>
                      </a:pPr>
                      <a:r>
                        <a:rPr lang="en-GB" sz="1950" b="0" i="0" u="none">
                          <a:solidFill>
                            <a:srgbClr val="25372E"/>
                          </a:solidFill>
                          <a:latin typeface="Inter"/>
                        </a:rPr>
                        <a:t>Packaging</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950" b="0" i="0" u="none">
                          <a:solidFill>
                            <a:srgbClr val="25372E"/>
                          </a:solidFill>
                          <a:latin typeface="Inter"/>
                        </a:rPr>
                        <a:t>Docker / Compose</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950" b="0" i="0" u="none">
                          <a:solidFill>
                            <a:srgbClr val="25372E"/>
                          </a:solidFill>
                          <a:latin typeface="Inter"/>
                        </a:rPr>
                        <a:t>Runs the three parts together</a:t>
                      </a:r>
                      <a:endParaRPr lang="en-GB" sz="195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bl>
          </a:graphicData>
        </a:graphic>
      </p:graphicFrame>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Technology stack: delivery and operations</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05</a:t>
            </a:r>
            <a:endParaRPr lang="en-GB" sz="1200" b="0" i="0" u="none">
              <a:solidFill>
                <a:srgbClr val="637169"/>
              </a:solidFill>
              <a:latin typeface="Inter"/>
            </a:endParaRPr>
          </a:p>
        </p:txBody>
      </p:sp>
      <p:graphicFrame>
        <p:nvGraphicFramePr>
          <p:cNvPr id="4" name="Table 4" descr="Delivery and operations tools with their roles, including GitHub Actions, Kubernetes, Helm, monitoring, GitOps and Terraform."/>
          <p:cNvGraphicFramePr/>
          <p:nvPr/>
        </p:nvGraphicFramePr>
        <p:xfrm>
          <a:off x="609600" y="1504950"/>
          <a:ext cx="10972800" cy="4705350"/>
        </p:xfrm>
        <a:graphic>
          <a:graphicData uri="http://schemas.openxmlformats.org/drawingml/2006/table">
            <a:tbl>
              <a:tblPr/>
              <a:tblGrid>
                <a:gridCol w="2533650"/>
                <a:gridCol w="3581400"/>
                <a:gridCol w="4857750"/>
              </a:tblGrid>
              <a:tr h="590550">
                <a:tc>
                  <a:txBody>
                    <a:bodyPr wrap="square" lIns="45720" tIns="45720" rIns="45720" bIns="45720" rtlCol="0" anchor="ctr">
                      <a:noAutofit/>
                    </a:bodyPr>
                    <a:lstStyle/>
                    <a:p>
                      <a:pPr algn="l">
                        <a:buNone/>
                      </a:pPr>
                      <a:r>
                        <a:rPr lang="en-GB" sz="1800" b="1" i="0" u="none">
                          <a:solidFill>
                            <a:srgbClr val="FFFFFF"/>
                          </a:solidFill>
                          <a:latin typeface="Inter"/>
                        </a:rPr>
                        <a:t>Purpose</a:t>
                      </a:r>
                      <a:endParaRPr lang="en-GB" sz="1800"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c>
                  <a:txBody>
                    <a:bodyPr wrap="square" lIns="45720" tIns="45720" rIns="45720" bIns="45720" rtlCol="0" anchor="ctr">
                      <a:noAutofit/>
                    </a:bodyPr>
                    <a:lstStyle/>
                    <a:p>
                      <a:pPr algn="l">
                        <a:buNone/>
                      </a:pPr>
                      <a:r>
                        <a:rPr lang="en-GB" sz="1800" b="1" i="0" u="none">
                          <a:solidFill>
                            <a:srgbClr val="FFFFFF"/>
                          </a:solidFill>
                          <a:latin typeface="Inter"/>
                        </a:rPr>
                        <a:t>Tools used</a:t>
                      </a:r>
                      <a:endParaRPr lang="en-GB" sz="1800"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c>
                  <a:txBody>
                    <a:bodyPr wrap="square" lIns="45720" tIns="45720" rIns="45720" bIns="45720" rtlCol="0" anchor="ctr">
                      <a:noAutofit/>
                    </a:bodyPr>
                    <a:lstStyle/>
                    <a:p>
                      <a:pPr algn="l">
                        <a:buNone/>
                      </a:pPr>
                      <a:r>
                        <a:rPr lang="en-GB" sz="1800" b="1" i="0" u="none">
                          <a:solidFill>
                            <a:srgbClr val="FFFFFF"/>
                          </a:solidFill>
                          <a:latin typeface="Inter"/>
                        </a:rPr>
                        <a:t>What it does</a:t>
                      </a:r>
                      <a:endParaRPr lang="en-GB" sz="1800"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r>
              <a:tr h="685800">
                <a:tc>
                  <a:txBody>
                    <a:bodyPr wrap="square" lIns="45720" tIns="45720" rIns="45720" bIns="45720" rtlCol="0" anchor="ctr">
                      <a:noAutofit/>
                    </a:bodyPr>
                    <a:lstStyle/>
                    <a:p>
                      <a:pPr algn="l">
                        <a:buNone/>
                      </a:pPr>
                      <a:r>
                        <a:rPr lang="en-GB" sz="1800" b="0" i="0" u="none">
                          <a:solidFill>
                            <a:srgbClr val="25372E"/>
                          </a:solidFill>
                          <a:latin typeface="Inter"/>
                        </a:rPr>
                        <a:t>Code and history</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Git / GitHub</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Keeps files and change history</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685800">
                <a:tc>
                  <a:txBody>
                    <a:bodyPr wrap="square" lIns="45720" tIns="45720" rIns="45720" bIns="45720" rtlCol="0" anchor="ctr">
                      <a:noAutofit/>
                    </a:bodyPr>
                    <a:lstStyle/>
                    <a:p>
                      <a:pPr algn="l">
                        <a:buNone/>
                      </a:pPr>
                      <a:r>
                        <a:rPr lang="en-GB" sz="1800" b="0" i="0" u="none">
                          <a:solidFill>
                            <a:srgbClr val="25372E"/>
                          </a:solidFill>
                          <a:latin typeface="Inter"/>
                        </a:rPr>
                        <a:t>Release checks</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GitHub Actions / GHCR</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Checks and stores new versions</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685800">
                <a:tc>
                  <a:txBody>
                    <a:bodyPr wrap="square" lIns="45720" tIns="45720" rIns="45720" bIns="45720" rtlCol="0" anchor="ctr">
                      <a:noAutofit/>
                    </a:bodyPr>
                    <a:lstStyle/>
                    <a:p>
                      <a:pPr algn="l">
                        <a:buNone/>
                      </a:pPr>
                      <a:r>
                        <a:rPr lang="en-GB" sz="1800" b="0" i="0" u="none">
                          <a:solidFill>
                            <a:srgbClr val="25372E"/>
                          </a:solidFill>
                          <a:latin typeface="Inter"/>
                        </a:rPr>
                        <a:t>Running the app</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Kubernetes / Helm</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Manages copies and their setup</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685800">
                <a:tc>
                  <a:txBody>
                    <a:bodyPr wrap="square" lIns="45720" tIns="45720" rIns="45720" bIns="45720" rtlCol="0" anchor="ctr">
                      <a:noAutofit/>
                    </a:bodyPr>
                    <a:lstStyle/>
                    <a:p>
                      <a:pPr algn="l">
                        <a:buNone/>
                      </a:pPr>
                      <a:r>
                        <a:rPr lang="en-GB" sz="1800" b="0" i="0" u="none">
                          <a:solidFill>
                            <a:srgbClr val="25372E"/>
                          </a:solidFill>
                          <a:latin typeface="Inter"/>
                        </a:rPr>
                        <a:t>Health and activity</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Prometheus / Grafana</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Displays application measurements</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685800">
                <a:tc>
                  <a:txBody>
                    <a:bodyPr wrap="square" lIns="45720" tIns="45720" rIns="45720" bIns="45720" rtlCol="0" anchor="ctr">
                      <a:noAutofit/>
                    </a:bodyPr>
                    <a:lstStyle/>
                    <a:p>
                      <a:pPr algn="l">
                        <a:buNone/>
                      </a:pPr>
                      <a:r>
                        <a:rPr lang="en-GB" sz="1800" b="0" i="0" u="none">
                          <a:solidFill>
                            <a:srgbClr val="25372E"/>
                          </a:solidFill>
                          <a:latin typeface="Inter"/>
                        </a:rPr>
                        <a:t>Setup consistency</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Argo CD</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Keeps the app aligned with Git</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685800">
                <a:tc>
                  <a:txBody>
                    <a:bodyPr wrap="square" lIns="45720" tIns="45720" rIns="45720" bIns="45720" rtlCol="0" anchor="ctr">
                      <a:noAutofit/>
                    </a:bodyPr>
                    <a:lstStyle/>
                    <a:p>
                      <a:pPr algn="l">
                        <a:buNone/>
                      </a:pPr>
                      <a:r>
                        <a:rPr lang="en-GB" sz="1800" b="0" i="0" u="none">
                          <a:solidFill>
                            <a:srgbClr val="25372E"/>
                          </a:solidFill>
                          <a:latin typeface="Inter"/>
                        </a:rPr>
                        <a:t>Cloud infrastructure</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Terraform / AWS</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00" b="0" i="0" u="none">
                          <a:solidFill>
                            <a:srgbClr val="25372E"/>
                          </a:solidFill>
                          <a:latin typeface="Inter"/>
                        </a:rPr>
                        <a:t>Defines and creates cloud resources</a:t>
                      </a:r>
                      <a:endParaRPr lang="en-GB" sz="1800"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bl>
          </a:graphicData>
        </a:graphic>
      </p:graphicFrame>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How I built it</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06</a:t>
            </a:r>
            <a:endParaRPr lang="en-GB" sz="1200" b="0" i="0" u="none">
              <a:solidFill>
                <a:srgbClr val="637169"/>
              </a:solidFill>
              <a:latin typeface="Inter"/>
            </a:endParaRPr>
          </a:p>
        </p:txBody>
      </p:sp>
      <p:sp>
        <p:nvSpPr>
          <p:cNvPr id="4" name="Text 4"/>
          <p:cNvSpPr txBox="1"/>
          <p:nvPr/>
        </p:nvSpPr>
        <p:spPr>
          <a:xfrm>
            <a:off x="609600" y="1619250"/>
            <a:ext cx="51054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1. Adapt the reference app</a:t>
            </a:r>
            <a:endParaRPr lang="en-GB" sz="2175" b="1" i="0" u="none">
              <a:solidFill>
                <a:srgbClr val="315B48"/>
              </a:solidFill>
              <a:latin typeface="Inter"/>
            </a:endParaRPr>
          </a:p>
        </p:txBody>
      </p:sp>
      <p:sp>
        <p:nvSpPr>
          <p:cNvPr id="5" name="Text 5"/>
          <p:cNvSpPr txBox="1"/>
          <p:nvPr/>
        </p:nvSpPr>
        <p:spPr>
          <a:xfrm>
            <a:off x="609600" y="2133600"/>
            <a:ext cx="5105400" cy="1104900"/>
          </a:xfrm>
          <a:prstGeom prst="rect">
            <a:avLst/>
          </a:prstGeom>
          <a:noFill/>
        </p:spPr>
        <p:txBody>
          <a:bodyPr wrap="square" lIns="0" tIns="0" rIns="0" bIns="0" rtlCol="0" anchor="t">
            <a:noAutofit/>
          </a:bodyPr>
          <a:lstStyle/>
          <a:p>
            <a:pPr algn="l">
              <a:buNone/>
            </a:pPr>
            <a:r>
              <a:rPr lang="en-GB" sz="1950" b="0" i="0" u="none">
                <a:solidFill>
                  <a:srgbClr val="25372E"/>
                </a:solidFill>
                <a:latin typeface="Inter"/>
              </a:rPr>
              <a:t>Turn the supplied TaskBoard starter</a:t>
            </a:r>
            <a:endParaRPr lang="en-GB" sz="1950" b="0" i="0" u="none">
              <a:solidFill>
                <a:srgbClr val="25372E"/>
              </a:solidFill>
              <a:latin typeface="Inter"/>
            </a:endParaRPr>
          </a:p>
          <a:p>
            <a:pPr algn="l">
              <a:buNone/>
            </a:pPr>
            <a:r>
              <a:rPr lang="en-GB" sz="1950" b="0" i="0" u="none">
                <a:solidFill>
                  <a:srgbClr val="25372E"/>
                </a:solidFill>
                <a:latin typeface="Inter"/>
              </a:rPr>
              <a:t>into a DevOps lab tracker.</a:t>
            </a:r>
            <a:endParaRPr lang="en-GB" sz="1950" b="0" i="0" u="none">
              <a:solidFill>
                <a:srgbClr val="25372E"/>
              </a:solidFill>
              <a:latin typeface="Inter"/>
            </a:endParaRPr>
          </a:p>
        </p:txBody>
      </p:sp>
      <p:sp>
        <p:nvSpPr>
          <p:cNvPr id="6" name="Text 6"/>
          <p:cNvSpPr txBox="1"/>
          <p:nvPr/>
        </p:nvSpPr>
        <p:spPr>
          <a:xfrm>
            <a:off x="609600" y="3276600"/>
            <a:ext cx="51054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2. Build the interface</a:t>
            </a:r>
            <a:endParaRPr lang="en-GB" sz="2175" b="1" i="0" u="none">
              <a:solidFill>
                <a:srgbClr val="315B48"/>
              </a:solidFill>
              <a:latin typeface="Inter"/>
            </a:endParaRPr>
          </a:p>
        </p:txBody>
      </p:sp>
      <p:sp>
        <p:nvSpPr>
          <p:cNvPr id="7" name="Text 7"/>
          <p:cNvSpPr txBox="1"/>
          <p:nvPr/>
        </p:nvSpPr>
        <p:spPr>
          <a:xfrm>
            <a:off x="609600" y="3790950"/>
            <a:ext cx="5105400" cy="1104900"/>
          </a:xfrm>
          <a:prstGeom prst="rect">
            <a:avLst/>
          </a:prstGeom>
          <a:noFill/>
        </p:spPr>
        <p:txBody>
          <a:bodyPr wrap="square" lIns="0" tIns="0" rIns="0" bIns="0" rtlCol="0" anchor="t">
            <a:noAutofit/>
          </a:bodyPr>
          <a:lstStyle/>
          <a:p>
            <a:pPr algn="l">
              <a:buNone/>
            </a:pPr>
            <a:r>
              <a:rPr lang="en-GB" sz="1950" b="0" i="0" u="none">
                <a:solidFill>
                  <a:srgbClr val="25372E"/>
                </a:solidFill>
                <a:latin typeface="Inter"/>
              </a:rPr>
              <a:t>Add task views, search, filters</a:t>
            </a:r>
            <a:endParaRPr lang="en-GB" sz="1950" b="0" i="0" u="none">
              <a:solidFill>
                <a:srgbClr val="25372E"/>
              </a:solidFill>
              <a:latin typeface="Inter"/>
            </a:endParaRPr>
          </a:p>
          <a:p>
            <a:pPr algn="l">
              <a:buNone/>
            </a:pPr>
            <a:r>
              <a:rPr lang="en-GB" sz="1950" b="0" i="0" u="none">
                <a:solidFill>
                  <a:srgbClr val="25372E"/>
                </a:solidFill>
                <a:latin typeface="Inter"/>
              </a:rPr>
              <a:t>and clear editing controls.</a:t>
            </a:r>
            <a:endParaRPr lang="en-GB" sz="1950" b="0" i="0" u="none">
              <a:solidFill>
                <a:srgbClr val="25372E"/>
              </a:solidFill>
              <a:latin typeface="Inter"/>
            </a:endParaRPr>
          </a:p>
        </p:txBody>
      </p:sp>
      <p:sp>
        <p:nvSpPr>
          <p:cNvPr id="8" name="Text 8"/>
          <p:cNvSpPr txBox="1"/>
          <p:nvPr/>
        </p:nvSpPr>
        <p:spPr>
          <a:xfrm>
            <a:off x="609600" y="4933950"/>
            <a:ext cx="51054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3. Package the parts</a:t>
            </a:r>
            <a:endParaRPr lang="en-GB" sz="2175" b="1" i="0" u="none">
              <a:solidFill>
                <a:srgbClr val="315B48"/>
              </a:solidFill>
              <a:latin typeface="Inter"/>
            </a:endParaRPr>
          </a:p>
        </p:txBody>
      </p:sp>
      <p:sp>
        <p:nvSpPr>
          <p:cNvPr id="9" name="Text 9"/>
          <p:cNvSpPr txBox="1"/>
          <p:nvPr/>
        </p:nvSpPr>
        <p:spPr>
          <a:xfrm>
            <a:off x="609600" y="5448300"/>
            <a:ext cx="5105400" cy="1104900"/>
          </a:xfrm>
          <a:prstGeom prst="rect">
            <a:avLst/>
          </a:prstGeom>
          <a:noFill/>
        </p:spPr>
        <p:txBody>
          <a:bodyPr wrap="square" lIns="0" tIns="0" rIns="0" bIns="0" rtlCol="0" anchor="t">
            <a:noAutofit/>
          </a:bodyPr>
          <a:lstStyle/>
          <a:p>
            <a:pPr algn="l">
              <a:buNone/>
            </a:pPr>
            <a:r>
              <a:rPr lang="en-GB" sz="1950" b="0" i="0" u="none">
                <a:solidFill>
                  <a:srgbClr val="25372E"/>
                </a:solidFill>
                <a:latin typeface="Inter"/>
              </a:rPr>
              <a:t>Define how the website, service</a:t>
            </a:r>
            <a:endParaRPr lang="en-GB" sz="1950" b="0" i="0" u="none">
              <a:solidFill>
                <a:srgbClr val="25372E"/>
              </a:solidFill>
              <a:latin typeface="Inter"/>
            </a:endParaRPr>
          </a:p>
          <a:p>
            <a:pPr algn="l">
              <a:buNone/>
            </a:pPr>
            <a:r>
              <a:rPr lang="en-GB" sz="1950" b="0" i="0" u="none">
                <a:solidFill>
                  <a:srgbClr val="25372E"/>
                </a:solidFill>
                <a:latin typeface="Inter"/>
              </a:rPr>
              <a:t>and database run together.</a:t>
            </a:r>
            <a:endParaRPr lang="en-GB" sz="1950" b="0" i="0" u="none">
              <a:solidFill>
                <a:srgbClr val="25372E"/>
              </a:solidFill>
              <a:latin typeface="Inter"/>
            </a:endParaRPr>
          </a:p>
        </p:txBody>
      </p:sp>
      <p:sp>
        <p:nvSpPr>
          <p:cNvPr id="10" name="Text 10"/>
          <p:cNvSpPr txBox="1"/>
          <p:nvPr/>
        </p:nvSpPr>
        <p:spPr>
          <a:xfrm>
            <a:off x="6419850" y="1619250"/>
            <a:ext cx="516255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4. Automate the checks</a:t>
            </a:r>
            <a:endParaRPr lang="en-GB" sz="2175" b="1" i="0" u="none">
              <a:solidFill>
                <a:srgbClr val="315B48"/>
              </a:solidFill>
              <a:latin typeface="Inter"/>
            </a:endParaRPr>
          </a:p>
        </p:txBody>
      </p:sp>
      <p:sp>
        <p:nvSpPr>
          <p:cNvPr id="11" name="Text 11"/>
          <p:cNvSpPr txBox="1"/>
          <p:nvPr/>
        </p:nvSpPr>
        <p:spPr>
          <a:xfrm>
            <a:off x="6419850" y="2133600"/>
            <a:ext cx="5162550" cy="1104900"/>
          </a:xfrm>
          <a:prstGeom prst="rect">
            <a:avLst/>
          </a:prstGeom>
          <a:noFill/>
        </p:spPr>
        <p:txBody>
          <a:bodyPr wrap="square" lIns="0" tIns="0" rIns="0" bIns="0" rtlCol="0" anchor="t">
            <a:noAutofit/>
          </a:bodyPr>
          <a:lstStyle/>
          <a:p>
            <a:pPr algn="l">
              <a:buNone/>
            </a:pPr>
            <a:r>
              <a:rPr lang="en-GB" sz="1950" b="0" i="0" u="none">
                <a:solidFill>
                  <a:srgbClr val="25372E"/>
                </a:solidFill>
                <a:latin typeface="Inter"/>
              </a:rPr>
              <a:t>Run tests and security scans</a:t>
            </a:r>
            <a:endParaRPr lang="en-GB" sz="1950" b="0" i="0" u="none">
              <a:solidFill>
                <a:srgbClr val="25372E"/>
              </a:solidFill>
              <a:latin typeface="Inter"/>
            </a:endParaRPr>
          </a:p>
          <a:p>
            <a:pPr algn="l">
              <a:buNone/>
            </a:pPr>
            <a:r>
              <a:rPr lang="en-GB" sz="1950" b="0" i="0" u="none">
                <a:solidFill>
                  <a:srgbClr val="25372E"/>
                </a:solidFill>
                <a:latin typeface="Inter"/>
              </a:rPr>
              <a:t>before publishing a version.</a:t>
            </a:r>
            <a:endParaRPr lang="en-GB" sz="1950" b="0" i="0" u="none">
              <a:solidFill>
                <a:srgbClr val="25372E"/>
              </a:solidFill>
              <a:latin typeface="Inter"/>
            </a:endParaRPr>
          </a:p>
        </p:txBody>
      </p:sp>
      <p:sp>
        <p:nvSpPr>
          <p:cNvPr id="12" name="Text 12"/>
          <p:cNvSpPr txBox="1"/>
          <p:nvPr/>
        </p:nvSpPr>
        <p:spPr>
          <a:xfrm>
            <a:off x="6419850" y="3276600"/>
            <a:ext cx="516255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5. Verify the deployment</a:t>
            </a:r>
            <a:endParaRPr lang="en-GB" sz="2175" b="1" i="0" u="none">
              <a:solidFill>
                <a:srgbClr val="315B48"/>
              </a:solidFill>
              <a:latin typeface="Inter"/>
            </a:endParaRPr>
          </a:p>
        </p:txBody>
      </p:sp>
      <p:sp>
        <p:nvSpPr>
          <p:cNvPr id="13" name="Text 13"/>
          <p:cNvSpPr txBox="1"/>
          <p:nvPr/>
        </p:nvSpPr>
        <p:spPr>
          <a:xfrm>
            <a:off x="6419850" y="3790950"/>
            <a:ext cx="5162550" cy="1104900"/>
          </a:xfrm>
          <a:prstGeom prst="rect">
            <a:avLst/>
          </a:prstGeom>
          <a:noFill/>
        </p:spPr>
        <p:txBody>
          <a:bodyPr wrap="square" lIns="0" tIns="0" rIns="0" bIns="0" rtlCol="0" anchor="t">
            <a:noAutofit/>
          </a:bodyPr>
          <a:lstStyle/>
          <a:p>
            <a:pPr algn="l">
              <a:buNone/>
            </a:pPr>
            <a:r>
              <a:rPr lang="en-GB" sz="1950" b="0" i="0" u="none">
                <a:solidFill>
                  <a:srgbClr val="25372E"/>
                </a:solidFill>
                <a:latin typeface="Inter"/>
              </a:rPr>
              <a:t>Check recovery, saved data</a:t>
            </a:r>
            <a:endParaRPr lang="en-GB" sz="1950" b="0" i="0" u="none">
              <a:solidFill>
                <a:srgbClr val="25372E"/>
              </a:solidFill>
              <a:latin typeface="Inter"/>
            </a:endParaRPr>
          </a:p>
          <a:p>
            <a:pPr algn="l">
              <a:buNone/>
            </a:pPr>
            <a:r>
              <a:rPr lang="en-GB" sz="1950" b="0" i="0" u="none">
                <a:solidFill>
                  <a:srgbClr val="25372E"/>
                </a:solidFill>
                <a:latin typeface="Inter"/>
              </a:rPr>
              <a:t>and application activity.</a:t>
            </a:r>
            <a:endParaRPr lang="en-GB" sz="1950" b="0" i="0" u="none">
              <a:solidFill>
                <a:srgbClr val="25372E"/>
              </a:solidFill>
              <a:latin typeface="Inter"/>
            </a:endParaRPr>
          </a:p>
        </p:txBody>
      </p:sp>
      <p:sp>
        <p:nvSpPr>
          <p:cNvPr id="14" name="Text 14"/>
          <p:cNvSpPr txBox="1"/>
          <p:nvPr/>
        </p:nvSpPr>
        <p:spPr>
          <a:xfrm>
            <a:off x="6419850" y="4933950"/>
            <a:ext cx="516255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6. Record the cloud lifecycle</a:t>
            </a:r>
            <a:endParaRPr lang="en-GB" sz="2175" b="1" i="0" u="none">
              <a:solidFill>
                <a:srgbClr val="315B48"/>
              </a:solidFill>
              <a:latin typeface="Inter"/>
            </a:endParaRPr>
          </a:p>
        </p:txBody>
      </p:sp>
      <p:sp>
        <p:nvSpPr>
          <p:cNvPr id="15" name="Text 15"/>
          <p:cNvSpPr txBox="1"/>
          <p:nvPr/>
        </p:nvSpPr>
        <p:spPr>
          <a:xfrm>
            <a:off x="6419850" y="5448300"/>
            <a:ext cx="5162550" cy="1104900"/>
          </a:xfrm>
          <a:prstGeom prst="rect">
            <a:avLst/>
          </a:prstGeom>
          <a:noFill/>
        </p:spPr>
        <p:txBody>
          <a:bodyPr wrap="square" lIns="0" tIns="0" rIns="0" bIns="0" rtlCol="0" anchor="t">
            <a:noAutofit/>
          </a:bodyPr>
          <a:lstStyle/>
          <a:p>
            <a:pPr algn="l">
              <a:buNone/>
            </a:pPr>
            <a:r>
              <a:rPr lang="en-GB" sz="1950" b="0" i="0" u="none">
                <a:solidFill>
                  <a:srgbClr val="25372E"/>
                </a:solidFill>
                <a:latin typeface="Inter"/>
              </a:rPr>
              <a:t>Create the practice infrastructure,</a:t>
            </a:r>
            <a:endParaRPr lang="en-GB" sz="1950" b="0" i="0" u="none">
              <a:solidFill>
                <a:srgbClr val="25372E"/>
              </a:solidFill>
              <a:latin typeface="Inter"/>
            </a:endParaRPr>
          </a:p>
          <a:p>
            <a:pPr algn="l">
              <a:buNone/>
            </a:pPr>
            <a:r>
              <a:rPr lang="en-GB" sz="1950" b="0" i="0" u="none">
                <a:solidFill>
                  <a:srgbClr val="25372E"/>
                </a:solidFill>
                <a:latin typeface="Inter"/>
              </a:rPr>
              <a:t>save evidence and remove it.</a:t>
            </a:r>
            <a:endParaRPr lang="en-GB" sz="1950" b="0" i="0" u="none">
              <a:solidFill>
                <a:srgbClr val="25372E"/>
              </a:solidFill>
              <a:latin typeface="Inter"/>
            </a:endParaRP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5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5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35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350"/>
                                        <p:tgtEl>
                                          <p:spTgt spid="10"/>
                                        </p:tgtEl>
                                      </p:cBhvr>
                                    </p:animEffect>
                                  </p:childTnLst>
                                </p:cTn>
                              </p:par>
                              <p:par>
                                <p:cTn id="32" presetID="10" presetClass="entr" presetSubtype="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350"/>
                                        <p:tgtEl>
                                          <p:spTgt spid="12"/>
                                        </p:tgtEl>
                                      </p:cBhvr>
                                    </p:animEffect>
                                  </p:childTnLst>
                                </p:cTn>
                              </p:par>
                              <p:par>
                                <p:cTn id="40" presetID="10" presetClass="entr" presetSubtype="0" fill="hold"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35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50"/>
                                        <p:tgtEl>
                                          <p:spTgt spid="14"/>
                                        </p:tgtEl>
                                      </p:cBhvr>
                                    </p:animEffect>
                                  </p:childTnLst>
                                </p:cTn>
                              </p:par>
                              <p:par>
                                <p:cTn id="48" presetID="10" presetClass="entr" presetSubtype="0" fill="hold"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The project repository</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07</a:t>
            </a:r>
            <a:endParaRPr lang="en-GB" sz="1200" b="0" i="0" u="none">
              <a:solidFill>
                <a:srgbClr val="637169"/>
              </a:solidFill>
              <a:latin typeface="Inter"/>
            </a:endParaRPr>
          </a:p>
        </p:txBody>
      </p:sp>
      <p:sp>
        <p:nvSpPr>
          <p:cNvPr id="4" name="Text 4"/>
          <p:cNvSpPr txBox="1"/>
          <p:nvPr/>
        </p:nvSpPr>
        <p:spPr>
          <a:xfrm>
            <a:off x="609600" y="1390650"/>
            <a:ext cx="10972800" cy="5334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GitHub stores the source code, setup files and change history</a:t>
            </a:r>
            <a:endParaRPr lang="en-GB" sz="2175" b="1" i="0" u="none">
              <a:solidFill>
                <a:srgbClr val="315B48"/>
              </a:solidFill>
              <a:latin typeface="Inter"/>
            </a:endParaRPr>
          </a:p>
        </p:txBody>
      </p:sp>
      <p:pic>
        <p:nvPicPr>
          <p:cNvPr id="5" name="Picture 5" descr="GitHub repository showing the Session 21 project files and change history."/>
          <p:cNvPicPr/>
          <p:nvPr/>
        </p:nvPicPr>
        <p:blipFill>
          <a:blip r:embed="rId2"/>
          <a:srcRect l="0" t="17000" r="0" b="30000"/>
          <a:stretch>
            <a:fillRect/>
          </a:stretch>
        </p:blipFill>
        <p:spPr>
          <a:xfrm>
            <a:off x="609600" y="2076450"/>
            <a:ext cx="10972800" cy="4038600"/>
          </a:xfrm>
          <a:prstGeom prst="rect">
            <a:avLst/>
          </a:prstGeom>
        </p:spPr>
      </p:pic>
      <p:sp>
        <p:nvSpPr>
          <p:cNvPr id="6" name="Text 6"/>
          <p:cNvSpPr txBox="1"/>
          <p:nvPr/>
        </p:nvSpPr>
        <p:spPr>
          <a:xfrm>
            <a:off x="609600" y="6191250"/>
            <a:ext cx="10972800" cy="304800"/>
          </a:xfrm>
          <a:prstGeom prst="rect">
            <a:avLst/>
          </a:prstGeom>
          <a:noFill/>
        </p:spPr>
        <p:txBody>
          <a:bodyPr wrap="square" lIns="0" tIns="0" rIns="0" bIns="0" rtlCol="0" anchor="t">
            <a:noAutofit/>
          </a:bodyPr>
          <a:lstStyle/>
          <a:p>
            <a:pPr algn="l">
              <a:buNone/>
            </a:pPr>
            <a:r>
              <a:rPr lang="en-GB" sz="1800" b="0" i="0" u="none">
                <a:solidFill>
                  <a:srgbClr val="637169"/>
                </a:solidFill>
                <a:latin typeface="Inter"/>
              </a:rPr>
              <a:t>Repository = project files with a record of changes</a:t>
            </a:r>
            <a:endParaRPr lang="en-GB" sz="1800" b="0" i="0" u="none">
              <a:solidFill>
                <a:srgbClr val="637169"/>
              </a:solidFill>
              <a:latin typeface="Inter"/>
            </a:endParaRP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CI/CD: automated release checks</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08</a:t>
            </a:r>
            <a:endParaRPr lang="en-GB" sz="1200" b="0" i="0" u="none">
              <a:solidFill>
                <a:srgbClr val="637169"/>
              </a:solidFill>
              <a:latin typeface="Inter"/>
            </a:endParaRPr>
          </a:p>
        </p:txBody>
      </p:sp>
      <p:sp>
        <p:nvSpPr>
          <p:cNvPr id="4" name="Text 4"/>
          <p:cNvSpPr txBox="1"/>
          <p:nvPr/>
        </p:nvSpPr>
        <p:spPr>
          <a:xfrm>
            <a:off x="609600" y="1390650"/>
            <a:ext cx="10972800" cy="7239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A code change starts the checks. Each green tick marks a completed stage.</a:t>
            </a:r>
            <a:endParaRPr lang="en-GB" sz="2175" b="1" i="0" u="none">
              <a:solidFill>
                <a:srgbClr val="315B48"/>
              </a:solidFill>
              <a:latin typeface="Inter"/>
            </a:endParaRPr>
          </a:p>
        </p:txBody>
      </p:sp>
      <p:pic>
        <p:nvPicPr>
          <p:cNvPr id="5" name="Picture 5" descr="GitHub Actions pipeline showing all five jobs completed successfully."/>
          <p:cNvPicPr/>
          <p:nvPr/>
        </p:nvPicPr>
        <p:blipFill>
          <a:blip r:embed="rId2"/>
          <a:srcRect l="0" t="17000" r="0" b="37000"/>
          <a:stretch>
            <a:fillRect/>
          </a:stretch>
        </p:blipFill>
        <p:spPr>
          <a:xfrm>
            <a:off x="609600" y="2286000"/>
            <a:ext cx="10972800" cy="3505200"/>
          </a:xfrm>
          <a:prstGeom prst="rect">
            <a:avLst/>
          </a:prstGeom>
        </p:spPr>
      </p:pic>
      <p:sp>
        <p:nvSpPr>
          <p:cNvPr id="6" name="Text 6"/>
          <p:cNvSpPr txBox="1"/>
          <p:nvPr/>
        </p:nvSpPr>
        <p:spPr>
          <a:xfrm>
            <a:off x="609600" y="6134100"/>
            <a:ext cx="10972800" cy="342900"/>
          </a:xfrm>
          <a:prstGeom prst="rect">
            <a:avLst/>
          </a:prstGeom>
          <a:noFill/>
        </p:spPr>
        <p:txBody>
          <a:bodyPr wrap="square" lIns="0" tIns="0" rIns="0" bIns="0" rtlCol="0" anchor="t">
            <a:noAutofit/>
          </a:bodyPr>
          <a:lstStyle/>
          <a:p>
            <a:pPr algn="l">
              <a:buNone/>
            </a:pPr>
            <a:r>
              <a:rPr lang="en-GB" sz="1875" b="0" i="0" u="none">
                <a:solidFill>
                  <a:srgbClr val="637169"/>
                </a:solidFill>
                <a:latin typeface="Inter"/>
              </a:rPr>
              <a:t>Five jobs passed in the recorded run</a:t>
            </a:r>
            <a:endParaRPr lang="en-GB" sz="1875" b="0" i="0" u="none">
              <a:solidFill>
                <a:srgbClr val="637169"/>
              </a:solidFill>
              <a:latin typeface="Inter"/>
            </a:endParaRP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Docker Compose: running the parts together</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09</a:t>
            </a:r>
            <a:endParaRPr lang="en-GB" sz="1200" b="0" i="0" u="none">
              <a:solidFill>
                <a:srgbClr val="637169"/>
              </a:solidFill>
              <a:latin typeface="Inter"/>
            </a:endParaRPr>
          </a:p>
        </p:txBody>
      </p:sp>
      <p:sp>
        <p:nvSpPr>
          <p:cNvPr id="4" name="Text 4"/>
          <p:cNvSpPr txBox="1"/>
          <p:nvPr/>
        </p:nvSpPr>
        <p:spPr>
          <a:xfrm>
            <a:off x="609600" y="1390650"/>
            <a:ext cx="10972800" cy="6477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One setup starts the website, application service and database</a:t>
            </a:r>
            <a:endParaRPr lang="en-GB" sz="2175" b="1" i="0" u="none">
              <a:solidFill>
                <a:srgbClr val="315B48"/>
              </a:solidFill>
              <a:latin typeface="Inter"/>
            </a:endParaRPr>
          </a:p>
        </p:txBody>
      </p:sp>
      <p:pic>
        <p:nvPicPr>
          <p:cNvPr id="5" name="Picture 5" descr="Recorded Docker Compose verification showing three running services and a healthy database."/>
          <p:cNvPicPr/>
          <p:nvPr/>
        </p:nvPicPr>
        <p:blipFill>
          <a:blip r:embed="rId2"/>
          <a:srcRect l="0" t="0" r="0" b="15000"/>
          <a:stretch>
            <a:fillRect/>
          </a:stretch>
        </p:blipFill>
        <p:spPr>
          <a:xfrm>
            <a:off x="2000250" y="2190750"/>
            <a:ext cx="8191500" cy="3810000"/>
          </a:xfrm>
          <a:prstGeom prst="rect">
            <a:avLst/>
          </a:prstGeom>
        </p:spPr>
      </p:pic>
      <p:sp>
        <p:nvSpPr>
          <p:cNvPr id="6" name="Text 6"/>
          <p:cNvSpPr txBox="1"/>
          <p:nvPr/>
        </p:nvSpPr>
        <p:spPr>
          <a:xfrm>
            <a:off x="609600" y="6191250"/>
            <a:ext cx="10972800" cy="304800"/>
          </a:xfrm>
          <a:prstGeom prst="rect">
            <a:avLst/>
          </a:prstGeom>
          <a:noFill/>
        </p:spPr>
        <p:txBody>
          <a:bodyPr wrap="square" lIns="0" tIns="0" rIns="0" bIns="0" rtlCol="0" anchor="t">
            <a:noAutofit/>
          </a:bodyPr>
          <a:lstStyle/>
          <a:p>
            <a:pPr algn="l">
              <a:buNone/>
            </a:pPr>
            <a:r>
              <a:rPr lang="en-GB" sz="1800" b="0" i="0" u="none">
                <a:solidFill>
                  <a:srgbClr val="637169"/>
                </a:solidFill>
                <a:latin typeface="Inter"/>
              </a:rPr>
              <a:t>Recorded result: three services running and the database healthy</a:t>
            </a:r>
            <a:endParaRPr lang="en-GB" sz="1800" b="0" i="0" u="none">
              <a:solidFill>
                <a:srgbClr val="637169"/>
              </a:solidFill>
              <a:latin typeface="Inter"/>
            </a:endParaRP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Kubernetes: managing the running app</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10</a:t>
            </a:r>
            <a:endParaRPr lang="en-GB" sz="1200" b="0" i="0" u="none">
              <a:solidFill>
                <a:srgbClr val="637169"/>
              </a:solidFill>
              <a:latin typeface="Inter"/>
            </a:endParaRPr>
          </a:p>
        </p:txBody>
      </p:sp>
      <p:sp>
        <p:nvSpPr>
          <p:cNvPr id="4" name="Text 4"/>
          <p:cNvSpPr txBox="1"/>
          <p:nvPr/>
        </p:nvSpPr>
        <p:spPr>
          <a:xfrm>
            <a:off x="609600" y="1390650"/>
            <a:ext cx="10972800" cy="6477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Kubernetes manages running copies and can replace failed copies</a:t>
            </a:r>
            <a:endParaRPr lang="en-GB" sz="2175" b="1" i="0" u="none">
              <a:solidFill>
                <a:srgbClr val="315B48"/>
              </a:solidFill>
              <a:latin typeface="Inter"/>
            </a:endParaRPr>
          </a:p>
        </p:txBody>
      </p:sp>
      <p:pic>
        <p:nvPicPr>
          <p:cNvPr id="5" name="Picture 5" descr="Recorded Kubernetes output showing frontend, backend and PostgreSQL pods Running, with their services."/>
          <p:cNvPicPr/>
          <p:nvPr/>
        </p:nvPicPr>
        <p:blipFill>
          <a:blip r:embed="rId2"/>
          <a:srcRect l="0" t="0" r="0" b="32000"/>
          <a:stretch>
            <a:fillRect/>
          </a:stretch>
        </p:blipFill>
        <p:spPr>
          <a:xfrm>
            <a:off x="971550" y="2190750"/>
            <a:ext cx="10248900" cy="3810000"/>
          </a:xfrm>
          <a:prstGeom prst="rect">
            <a:avLst/>
          </a:prstGeom>
        </p:spPr>
      </p:pic>
      <p:sp>
        <p:nvSpPr>
          <p:cNvPr id="6" name="Text 6"/>
          <p:cNvSpPr txBox="1"/>
          <p:nvPr/>
        </p:nvSpPr>
        <p:spPr>
          <a:xfrm>
            <a:off x="609600" y="6191250"/>
            <a:ext cx="10972800" cy="304800"/>
          </a:xfrm>
          <a:prstGeom prst="rect">
            <a:avLst/>
          </a:prstGeom>
          <a:noFill/>
        </p:spPr>
        <p:txBody>
          <a:bodyPr wrap="square" lIns="0" tIns="0" rIns="0" bIns="0" rtlCol="0" anchor="t">
            <a:noAutofit/>
          </a:bodyPr>
          <a:lstStyle/>
          <a:p>
            <a:pPr algn="l">
              <a:buNone/>
            </a:pPr>
            <a:r>
              <a:rPr lang="en-GB" sz="1800" b="0" i="0" u="none">
                <a:solidFill>
                  <a:srgbClr val="637169"/>
                </a:solidFill>
                <a:latin typeface="Inter"/>
              </a:rPr>
              <a:t>A pod is a running unit of the application</a:t>
            </a:r>
            <a:endParaRPr lang="en-GB" sz="1800" b="0" i="0" u="none">
              <a:solidFill>
                <a:srgbClr val="637169"/>
              </a:solidFill>
              <a:latin typeface="Inter"/>
            </a:endParaRP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How I checked that it works</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11</a:t>
            </a:r>
            <a:endParaRPr lang="en-GB" sz="1200" b="0" i="0" u="none">
              <a:solidFill>
                <a:srgbClr val="637169"/>
              </a:solidFill>
              <a:latin typeface="Inter"/>
            </a:endParaRPr>
          </a:p>
        </p:txBody>
      </p:sp>
      <p:graphicFrame>
        <p:nvGraphicFramePr>
          <p:cNvPr id="4" name="Table 4" descr="Verification results for automated API tests, database persistence, monitoring and GitOps recovery."/>
          <p:cNvGraphicFramePr/>
          <p:nvPr/>
        </p:nvGraphicFramePr>
        <p:xfrm>
          <a:off x="609600" y="1562100"/>
          <a:ext cx="10972800" cy="4724400"/>
        </p:xfrm>
        <a:graphic>
          <a:graphicData uri="http://schemas.openxmlformats.org/drawingml/2006/table">
            <a:tbl>
              <a:tblPr/>
              <a:tblGrid>
                <a:gridCol w="4686300"/>
                <a:gridCol w="6286500"/>
              </a:tblGrid>
              <a:tr h="609600">
                <a:tc>
                  <a:txBody>
                    <a:bodyPr wrap="square" lIns="45720" tIns="45720" rIns="45720" bIns="45720" rtlCol="0" anchor="ctr">
                      <a:noAutofit/>
                    </a:bodyPr>
                    <a:lstStyle/>
                    <a:p>
                      <a:pPr algn="l">
                        <a:buNone/>
                      </a:pPr>
                      <a:r>
                        <a:rPr lang="en-GB" sz="1875" b="1" i="0" u="none">
                          <a:solidFill>
                            <a:srgbClr val="FFFFFF"/>
                          </a:solidFill>
                          <a:latin typeface="Inter"/>
                        </a:rPr>
                        <a:t>Question</a:t>
                      </a:r>
                      <a:endParaRPr lang="en-GB" sz="1875"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c>
                  <a:txBody>
                    <a:bodyPr wrap="square" lIns="45720" tIns="45720" rIns="45720" bIns="45720" rtlCol="0" anchor="ctr">
                      <a:noAutofit/>
                    </a:bodyPr>
                    <a:lstStyle/>
                    <a:p>
                      <a:pPr algn="l">
                        <a:buNone/>
                      </a:pPr>
                      <a:r>
                        <a:rPr lang="en-GB" sz="1875" b="1" i="0" u="none">
                          <a:solidFill>
                            <a:srgbClr val="FFFFFF"/>
                          </a:solidFill>
                          <a:latin typeface="Inter"/>
                        </a:rPr>
                        <a:t>Evidence from the project</a:t>
                      </a:r>
                      <a:endParaRPr lang="en-GB" sz="1875"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r>
              <a:tr h="1028700">
                <a:tc>
                  <a:txBody>
                    <a:bodyPr wrap="square" lIns="45720" tIns="45720" rIns="45720" bIns="45720" rtlCol="0" anchor="ctr">
                      <a:noAutofit/>
                    </a:bodyPr>
                    <a:lstStyle/>
                    <a:p>
                      <a:pPr algn="l">
                        <a:buNone/>
                      </a:pPr>
                      <a:r>
                        <a:rPr lang="en-GB" sz="1875" b="0" i="0" u="none">
                          <a:solidFill>
                            <a:srgbClr val="25372E"/>
                          </a:solidFill>
                          <a:latin typeface="Inter"/>
                        </a:rPr>
                        <a:t>Do the features behave correctly?</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75" b="0" i="0" u="none">
                          <a:solidFill>
                            <a:srgbClr val="25372E"/>
                          </a:solidFill>
                          <a:latin typeface="Inter"/>
                        </a:rPr>
                        <a:t>10 automated application tests passed</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1028700">
                <a:tc>
                  <a:txBody>
                    <a:bodyPr wrap="square" lIns="45720" tIns="45720" rIns="45720" bIns="45720" rtlCol="0" anchor="ctr">
                      <a:noAutofit/>
                    </a:bodyPr>
                    <a:lstStyle/>
                    <a:p>
                      <a:pPr algn="l">
                        <a:buNone/>
                      </a:pPr>
                      <a:r>
                        <a:rPr lang="en-GB" sz="1875" b="0" i="0" u="none">
                          <a:solidFill>
                            <a:srgbClr val="25372E"/>
                          </a:solidFill>
                          <a:latin typeface="Inter"/>
                        </a:rPr>
                        <a:t>Does saved work survive a restart?</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75" b="0" i="0" u="none">
                          <a:solidFill>
                            <a:srgbClr val="25372E"/>
                          </a:solidFill>
                          <a:latin typeface="Inter"/>
                        </a:rPr>
                        <a:t>The same task survived database pod replacement</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1028700">
                <a:tc>
                  <a:txBody>
                    <a:bodyPr wrap="square" lIns="45720" tIns="45720" rIns="45720" bIns="45720" rtlCol="0" anchor="ctr">
                      <a:noAutofit/>
                    </a:bodyPr>
                    <a:lstStyle/>
                    <a:p>
                      <a:pPr algn="l">
                        <a:buNone/>
                      </a:pPr>
                      <a:r>
                        <a:rPr lang="en-GB" sz="1875" b="0" i="0" u="none">
                          <a:solidFill>
                            <a:srgbClr val="25372E"/>
                          </a:solidFill>
                          <a:latin typeface="Inter"/>
                        </a:rPr>
                        <a:t>Can I see application activity?</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75" b="0" i="0" u="none">
                          <a:solidFill>
                            <a:srgbClr val="25372E"/>
                          </a:solidFill>
                          <a:latin typeface="Inter"/>
                        </a:rPr>
                        <a:t>The dashboard showed activity and computer resource use</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1028700">
                <a:tc>
                  <a:txBody>
                    <a:bodyPr wrap="square" lIns="45720" tIns="45720" rIns="45720" bIns="45720" rtlCol="0" anchor="ctr">
                      <a:noAutofit/>
                    </a:bodyPr>
                    <a:lstStyle/>
                    <a:p>
                      <a:pPr algn="l">
                        <a:buNone/>
                      </a:pPr>
                      <a:r>
                        <a:rPr lang="en-GB" sz="1875" b="0" i="0" u="none">
                          <a:solidFill>
                            <a:srgbClr val="25372E"/>
                          </a:solidFill>
                          <a:latin typeface="Inter"/>
                        </a:rPr>
                        <a:t>Can the setup correct unwanted changes?</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75" b="0" i="0" u="none">
                          <a:solidFill>
                            <a:srgbClr val="25372E"/>
                          </a:solidFill>
                          <a:latin typeface="Inter"/>
                        </a:rPr>
                        <a:t>Argo CD restored the number of app copies saved in Git</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bl>
          </a:graphicData>
        </a:graphic>
      </p:graphicFrame>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Alternatives and trade-offs</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12</a:t>
            </a:r>
            <a:endParaRPr lang="en-GB" sz="1200" b="0" i="0" u="none">
              <a:solidFill>
                <a:srgbClr val="637169"/>
              </a:solidFill>
              <a:latin typeface="Inter"/>
            </a:endParaRPr>
          </a:p>
        </p:txBody>
      </p:sp>
      <p:sp>
        <p:nvSpPr>
          <p:cNvPr id="4" name="Text 4"/>
          <p:cNvSpPr txBox="1"/>
          <p:nvPr/>
        </p:nvSpPr>
        <p:spPr>
          <a:xfrm>
            <a:off x="609600" y="1390650"/>
            <a:ext cx="10972800" cy="419100"/>
          </a:xfrm>
          <a:prstGeom prst="rect">
            <a:avLst/>
          </a:prstGeom>
          <a:noFill/>
        </p:spPr>
        <p:txBody>
          <a:bodyPr wrap="square" lIns="0" tIns="0" rIns="0" bIns="0" rtlCol="0" anchor="t">
            <a:noAutofit/>
          </a:bodyPr>
          <a:lstStyle/>
          <a:p>
            <a:pPr algn="l">
              <a:buNone/>
            </a:pPr>
            <a:r>
              <a:rPr lang="en-GB" sz="2025" b="0" i="0" u="none">
                <a:solidFill>
                  <a:srgbClr val="637169"/>
                </a:solidFill>
                <a:latin typeface="Inter"/>
              </a:rPr>
              <a:t>Comparison of options, explained after building the project</a:t>
            </a:r>
            <a:endParaRPr lang="en-GB" sz="2025" b="0" i="0" u="none">
              <a:solidFill>
                <a:srgbClr val="637169"/>
              </a:solidFill>
              <a:latin typeface="Inter"/>
            </a:endParaRPr>
          </a:p>
        </p:txBody>
      </p:sp>
      <p:graphicFrame>
        <p:nvGraphicFramePr>
          <p:cNvPr id="5" name="Table 5" descr="Retrospective comparison of PostgreSQL versus SQLite, GitHub Actions versus Jenkins, and Kubernetes with Helm versus Docker Compose alone."/>
          <p:cNvGraphicFramePr/>
          <p:nvPr/>
        </p:nvGraphicFramePr>
        <p:xfrm>
          <a:off x="609600" y="2019300"/>
          <a:ext cx="10972800" cy="4210050"/>
        </p:xfrm>
        <a:graphic>
          <a:graphicData uri="http://schemas.openxmlformats.org/drawingml/2006/table">
            <a:tbl>
              <a:tblPr/>
              <a:tblGrid>
                <a:gridCol w="2571750"/>
                <a:gridCol w="2190750"/>
                <a:gridCol w="6210300"/>
              </a:tblGrid>
              <a:tr h="609600">
                <a:tc>
                  <a:txBody>
                    <a:bodyPr wrap="square" lIns="45720" tIns="45720" rIns="45720" bIns="45720" rtlCol="0" anchor="ctr">
                      <a:noAutofit/>
                    </a:bodyPr>
                    <a:lstStyle/>
                    <a:p>
                      <a:pPr algn="l">
                        <a:buNone/>
                      </a:pPr>
                      <a:r>
                        <a:rPr lang="en-GB" sz="1875" b="1" i="0" u="none">
                          <a:solidFill>
                            <a:srgbClr val="FFFFFF"/>
                          </a:solidFill>
                          <a:latin typeface="Inter"/>
                        </a:rPr>
                        <a:t>Used here</a:t>
                      </a:r>
                      <a:endParaRPr lang="en-GB" sz="1875"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c>
                  <a:txBody>
                    <a:bodyPr wrap="square" lIns="45720" tIns="45720" rIns="45720" bIns="45720" rtlCol="0" anchor="ctr">
                      <a:noAutofit/>
                    </a:bodyPr>
                    <a:lstStyle/>
                    <a:p>
                      <a:pPr algn="l">
                        <a:buNone/>
                      </a:pPr>
                      <a:r>
                        <a:rPr lang="en-GB" sz="1875" b="1" i="0" u="none">
                          <a:solidFill>
                            <a:srgbClr val="FFFFFF"/>
                          </a:solidFill>
                          <a:latin typeface="Inter"/>
                        </a:rPr>
                        <a:t>Alternative</a:t>
                      </a:r>
                      <a:endParaRPr lang="en-GB" sz="1875"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c>
                  <a:txBody>
                    <a:bodyPr wrap="square" lIns="45720" tIns="45720" rIns="45720" bIns="45720" rtlCol="0" anchor="ctr">
                      <a:noAutofit/>
                    </a:bodyPr>
                    <a:lstStyle/>
                    <a:p>
                      <a:pPr algn="l">
                        <a:buNone/>
                      </a:pPr>
                      <a:r>
                        <a:rPr lang="en-GB" sz="1875" b="1" i="0" u="none">
                          <a:solidFill>
                            <a:srgbClr val="FFFFFF"/>
                          </a:solidFill>
                          <a:latin typeface="Inter"/>
                        </a:rPr>
                        <a:t>What changes</a:t>
                      </a:r>
                      <a:endParaRPr lang="en-GB" sz="1875" b="1" i="0" u="none">
                        <a:solidFill>
                          <a:srgbClr val="FFFFFF"/>
                        </a:solidFill>
                        <a:latin typeface="Inter"/>
                      </a:endParaRPr>
                    </a:p>
                  </a:txBody>
                  <a:tcPr marL="45720" marR="45720" marT="45720" marB="45720" anchor="ctr">
                    <a:lnL w="0">
                      <a:noFill/>
                    </a:lnL>
                    <a:lnR w="0">
                      <a:noFill/>
                    </a:lnR>
                    <a:lnT w="0">
                      <a:noFill/>
                    </a:lnT>
                    <a:lnB w="0">
                      <a:noFill/>
                    </a:lnB>
                    <a:solidFill>
                      <a:srgbClr val="315B48"/>
                    </a:solidFill>
                  </a:tcPr>
                </a:tc>
              </a:tr>
              <a:tr h="1200150">
                <a:tc>
                  <a:txBody>
                    <a:bodyPr wrap="square" lIns="45720" tIns="45720" rIns="45720" bIns="45720" rtlCol="0" anchor="ctr">
                      <a:noAutofit/>
                    </a:bodyPr>
                    <a:lstStyle/>
                    <a:p>
                      <a:pPr algn="l">
                        <a:buNone/>
                      </a:pPr>
                      <a:r>
                        <a:rPr lang="en-GB" sz="1875" b="0" i="0" u="none">
                          <a:solidFill>
                            <a:srgbClr val="25372E"/>
                          </a:solidFill>
                          <a:latin typeface="Inter"/>
                        </a:rPr>
                        <a:t>PostgreSQL</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75" b="0" i="0" u="none">
                          <a:solidFill>
                            <a:srgbClr val="25372E"/>
                          </a:solidFill>
                          <a:latin typeface="Inter"/>
                        </a:rPr>
                        <a:t>SQLite</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75" b="0" i="0" u="none">
                          <a:solidFill>
                            <a:srgbClr val="25372E"/>
                          </a:solidFill>
                          <a:latin typeface="Inter"/>
                        </a:rPr>
                        <a:t>PostgreSQL provides a shared database.</a:t>
                      </a:r>
                      <a:endParaRPr lang="en-GB" sz="1875" b="0" i="0" u="none">
                        <a:solidFill>
                          <a:srgbClr val="25372E"/>
                        </a:solidFill>
                        <a:latin typeface="Inter"/>
                      </a:endParaRPr>
                    </a:p>
                    <a:p>
                      <a:pPr algn="l">
                        <a:buNone/>
                      </a:pPr>
                      <a:r>
                        <a:rPr lang="en-GB" sz="1875" b="0" i="0" u="none">
                          <a:solidFill>
                            <a:srgbClr val="25372E"/>
                          </a:solidFill>
                          <a:latin typeface="Inter"/>
                        </a:rPr>
                        <a:t>SQLite needs less setup for local storage.</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1200150">
                <a:tc>
                  <a:txBody>
                    <a:bodyPr wrap="square" lIns="45720" tIns="45720" rIns="45720" bIns="45720" rtlCol="0" anchor="ctr">
                      <a:noAutofit/>
                    </a:bodyPr>
                    <a:lstStyle/>
                    <a:p>
                      <a:pPr algn="l">
                        <a:buNone/>
                      </a:pPr>
                      <a:r>
                        <a:rPr lang="en-GB" sz="1875" b="0" i="0" u="none">
                          <a:solidFill>
                            <a:srgbClr val="25372E"/>
                          </a:solidFill>
                          <a:latin typeface="Inter"/>
                        </a:rPr>
                        <a:t>GitHub Actions</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75" b="0" i="0" u="none">
                          <a:solidFill>
                            <a:srgbClr val="25372E"/>
                          </a:solidFill>
                          <a:latin typeface="Inter"/>
                        </a:rPr>
                        <a:t>Jenkins</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75" b="0" i="0" u="none">
                          <a:solidFill>
                            <a:srgbClr val="25372E"/>
                          </a:solidFill>
                          <a:latin typeface="Inter"/>
                        </a:rPr>
                        <a:t>GitHub runs the release checks.</a:t>
                      </a:r>
                      <a:endParaRPr lang="en-GB" sz="1875" b="0" i="0" u="none">
                        <a:solidFill>
                          <a:srgbClr val="25372E"/>
                        </a:solidFill>
                        <a:latin typeface="Inter"/>
                      </a:endParaRPr>
                    </a:p>
                    <a:p>
                      <a:pPr algn="l">
                        <a:buNone/>
                      </a:pPr>
                      <a:r>
                        <a:rPr lang="en-GB" sz="1875" b="0" i="0" u="none">
                          <a:solidFill>
                            <a:srgbClr val="25372E"/>
                          </a:solidFill>
                          <a:latin typeface="Inter"/>
                        </a:rPr>
                        <a:t>Jenkins gives more server control and upkeep.</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r h="1200150">
                <a:tc>
                  <a:txBody>
                    <a:bodyPr wrap="square" lIns="45720" tIns="45720" rIns="45720" bIns="45720" rtlCol="0" anchor="ctr">
                      <a:noAutofit/>
                    </a:bodyPr>
                    <a:lstStyle/>
                    <a:p>
                      <a:pPr algn="l">
                        <a:buNone/>
                      </a:pPr>
                      <a:r>
                        <a:rPr lang="en-GB" sz="1875" b="0" i="0" u="none">
                          <a:solidFill>
                            <a:srgbClr val="25372E"/>
                          </a:solidFill>
                          <a:latin typeface="Inter"/>
                        </a:rPr>
                        <a:t>Kubernetes / Helm</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75" b="0" i="0" u="none">
                          <a:solidFill>
                            <a:srgbClr val="25372E"/>
                          </a:solidFill>
                          <a:latin typeface="Inter"/>
                        </a:rPr>
                        <a:t>Compose only</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c>
                  <a:txBody>
                    <a:bodyPr wrap="square" lIns="45720" tIns="45720" rIns="45720" bIns="45720" rtlCol="0" anchor="ctr">
                      <a:noAutofit/>
                    </a:bodyPr>
                    <a:lstStyle/>
                    <a:p>
                      <a:pPr algn="l">
                        <a:buNone/>
                      </a:pPr>
                      <a:r>
                        <a:rPr lang="en-GB" sz="1875" b="0" i="0" u="none">
                          <a:solidFill>
                            <a:srgbClr val="25372E"/>
                          </a:solidFill>
                          <a:latin typeface="Inter"/>
                        </a:rPr>
                        <a:t>Kubernetes adds scaling and recovery practice.</a:t>
                      </a:r>
                      <a:endParaRPr lang="en-GB" sz="1875" b="0" i="0" u="none">
                        <a:solidFill>
                          <a:srgbClr val="25372E"/>
                        </a:solidFill>
                        <a:latin typeface="Inter"/>
                      </a:endParaRPr>
                    </a:p>
                    <a:p>
                      <a:pPr algn="l">
                        <a:buNone/>
                      </a:pPr>
                      <a:r>
                        <a:rPr lang="en-GB" sz="1875" b="0" i="0" u="none">
                          <a:solidFill>
                            <a:srgbClr val="25372E"/>
                          </a:solidFill>
                          <a:latin typeface="Inter"/>
                        </a:rPr>
                        <a:t>Compose keeps the local setup simpler.</a:t>
                      </a:r>
                      <a:endParaRPr lang="en-GB" sz="1875" b="0" i="0" u="none">
                        <a:solidFill>
                          <a:srgbClr val="25372E"/>
                        </a:solidFill>
                        <a:latin typeface="Inter"/>
                      </a:endParaRPr>
                    </a:p>
                  </a:txBody>
                  <a:tcPr marL="45720" marR="45720" marT="45720" marB="45720" anchor="ctr">
                    <a:lnL w="0">
                      <a:noFill/>
                    </a:lnL>
                    <a:lnR w="0">
                      <a:noFill/>
                    </a:lnR>
                    <a:lnT w="0">
                      <a:noFill/>
                    </a:lnT>
                    <a:lnB w="0">
                      <a:noFill/>
                    </a:lnB>
                    <a:solidFill>
                      <a:srgbClr val="F7F7F2"/>
                    </a:solidFill>
                  </a:tcPr>
                </a:tc>
              </a:tr>
            </a:tbl>
          </a:graphicData>
        </a:graphic>
      </p:graphicFrame>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Cloud setup and cleanup</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13</a:t>
            </a:r>
            <a:endParaRPr lang="en-GB" sz="1200" b="0" i="0" u="none">
              <a:solidFill>
                <a:srgbClr val="637169"/>
              </a:solidFill>
              <a:latin typeface="Inter"/>
            </a:endParaRPr>
          </a:p>
        </p:txBody>
      </p:sp>
      <p:sp>
        <p:nvSpPr>
          <p:cNvPr id="4" name="Text 4"/>
          <p:cNvSpPr txBox="1"/>
          <p:nvPr/>
        </p:nvSpPr>
        <p:spPr>
          <a:xfrm>
            <a:off x="609600" y="1390650"/>
            <a:ext cx="10972800" cy="6858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Terraform describes the setup. AWS supplies the cloud resources.</a:t>
            </a:r>
            <a:endParaRPr lang="en-GB" sz="2175" b="1" i="0" u="none">
              <a:solidFill>
                <a:srgbClr val="315B48"/>
              </a:solidFill>
              <a:latin typeface="Inter"/>
            </a:endParaRPr>
          </a:p>
        </p:txBody>
      </p:sp>
      <p:sp>
        <p:nvSpPr>
          <p:cNvPr id="5" name="Text 5"/>
          <p:cNvSpPr txBox="1"/>
          <p:nvPr/>
        </p:nvSpPr>
        <p:spPr>
          <a:xfrm>
            <a:off x="609600" y="2571750"/>
            <a:ext cx="34290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Practice infrastructure</a:t>
            </a:r>
            <a:endParaRPr lang="en-GB" sz="2175" b="1" i="0" u="none">
              <a:solidFill>
                <a:srgbClr val="315B48"/>
              </a:solidFill>
              <a:latin typeface="Inter"/>
            </a:endParaRPr>
          </a:p>
        </p:txBody>
      </p:sp>
      <p:sp>
        <p:nvSpPr>
          <p:cNvPr id="6" name="Text 6"/>
          <p:cNvSpPr txBox="1"/>
          <p:nvPr/>
        </p:nvSpPr>
        <p:spPr>
          <a:xfrm>
            <a:off x="609600" y="3086100"/>
            <a:ext cx="3429000" cy="1104900"/>
          </a:xfrm>
          <a:prstGeom prst="rect">
            <a:avLst/>
          </a:prstGeom>
          <a:noFill/>
        </p:spPr>
        <p:txBody>
          <a:bodyPr wrap="square" lIns="0" tIns="0" rIns="0" bIns="0" rtlCol="0" anchor="t">
            <a:noAutofit/>
          </a:bodyPr>
          <a:lstStyle/>
          <a:p>
            <a:pPr algn="l">
              <a:buNone/>
            </a:pPr>
            <a:r>
              <a:rPr lang="en-GB" sz="2025" b="0" i="0" u="none">
                <a:solidFill>
                  <a:srgbClr val="25372E"/>
                </a:solidFill>
                <a:latin typeface="Inter"/>
              </a:rPr>
              <a:t>Create the environment,</a:t>
            </a:r>
            <a:endParaRPr lang="en-GB" sz="2025" b="0" i="0" u="none">
              <a:solidFill>
                <a:srgbClr val="25372E"/>
              </a:solidFill>
              <a:latin typeface="Inter"/>
            </a:endParaRPr>
          </a:p>
          <a:p>
            <a:pPr algn="l">
              <a:buNone/>
            </a:pPr>
            <a:r>
              <a:rPr lang="en-GB" sz="2025" b="0" i="0" u="none">
                <a:solidFill>
                  <a:srgbClr val="25372E"/>
                </a:solidFill>
                <a:latin typeface="Inter"/>
              </a:rPr>
              <a:t>record the checks and clean up.</a:t>
            </a:r>
            <a:endParaRPr lang="en-GB" sz="2025" b="0" i="0" u="none">
              <a:solidFill>
                <a:srgbClr val="25372E"/>
              </a:solidFill>
              <a:latin typeface="Inter"/>
            </a:endParaRPr>
          </a:p>
        </p:txBody>
      </p:sp>
      <p:sp>
        <p:nvSpPr>
          <p:cNvPr id="7" name="Text 7"/>
          <p:cNvSpPr txBox="1"/>
          <p:nvPr/>
        </p:nvSpPr>
        <p:spPr>
          <a:xfrm>
            <a:off x="609600" y="4514850"/>
            <a:ext cx="3429000" cy="857250"/>
          </a:xfrm>
          <a:prstGeom prst="rect">
            <a:avLst/>
          </a:prstGeom>
          <a:noFill/>
        </p:spPr>
        <p:txBody>
          <a:bodyPr wrap="square" lIns="0" tIns="0" rIns="0" bIns="0" rtlCol="0" anchor="t">
            <a:noAutofit/>
          </a:bodyPr>
          <a:lstStyle/>
          <a:p>
            <a:pPr algn="l">
              <a:buNone/>
            </a:pPr>
            <a:r>
              <a:rPr lang="en-GB" sz="2100" b="1" i="0" u="none">
                <a:solidFill>
                  <a:srgbClr val="315B48"/>
                </a:solidFill>
                <a:latin typeface="Inter"/>
              </a:rPr>
              <a:t>Application demo:</a:t>
            </a:r>
            <a:endParaRPr lang="en-GB" sz="2100" b="1" i="0" u="none">
              <a:solidFill>
                <a:srgbClr val="315B48"/>
              </a:solidFill>
              <a:latin typeface="Inter"/>
            </a:endParaRPr>
          </a:p>
          <a:p>
            <a:pPr algn="l">
              <a:buNone/>
            </a:pPr>
            <a:r>
              <a:rPr lang="en-GB" sz="2100" b="1" i="0" u="none">
                <a:solidFill>
                  <a:srgbClr val="315B48"/>
                </a:solidFill>
                <a:latin typeface="Inter"/>
              </a:rPr>
              <a:t>local Kubernetes</a:t>
            </a:r>
            <a:endParaRPr lang="en-GB" sz="2100" b="1" i="0" u="none">
              <a:solidFill>
                <a:srgbClr val="315B48"/>
              </a:solidFill>
              <a:latin typeface="Inter"/>
            </a:endParaRPr>
          </a:p>
        </p:txBody>
      </p:sp>
      <p:pic>
        <p:nvPicPr>
          <p:cNvPr id="8" name="Picture 8" descr="Recorded AWS cleanup verification for the practice infrastructure."/>
          <p:cNvPicPr/>
          <p:nvPr/>
        </p:nvPicPr>
        <p:blipFill>
          <a:blip r:embed="rId2"/>
          <a:srcRect l="0" t="0" r="0" b="45000"/>
          <a:stretch>
            <a:fillRect/>
          </a:stretch>
        </p:blipFill>
        <p:spPr>
          <a:xfrm>
            <a:off x="4305300" y="2686050"/>
            <a:ext cx="7277100" cy="2438400"/>
          </a:xfrm>
          <a:prstGeom prst="rect">
            <a:avLst/>
          </a:prstGeom>
        </p:spPr>
      </p:pic>
      <p:sp>
        <p:nvSpPr>
          <p:cNvPr id="9" name="Text 9"/>
          <p:cNvSpPr txBox="1"/>
          <p:nvPr/>
        </p:nvSpPr>
        <p:spPr>
          <a:xfrm>
            <a:off x="609600" y="5638800"/>
            <a:ext cx="10972800" cy="723900"/>
          </a:xfrm>
          <a:prstGeom prst="rect">
            <a:avLst/>
          </a:prstGeom>
          <a:noFill/>
        </p:spPr>
        <p:txBody>
          <a:bodyPr wrap="square" lIns="0" tIns="0" rIns="0" bIns="0" rtlCol="0" anchor="t">
            <a:noAutofit/>
          </a:bodyPr>
          <a:lstStyle/>
          <a:p>
            <a:pPr algn="l">
              <a:buNone/>
            </a:pPr>
            <a:r>
              <a:rPr lang="en-GB" sz="1875" b="0" i="0" u="none">
                <a:solidFill>
                  <a:srgbClr val="637169"/>
                </a:solidFill>
                <a:latin typeface="Inter"/>
              </a:rPr>
              <a:t>Main lab resources removed. Encryption-key deletion scheduled for 8 November 2026.</a:t>
            </a:r>
            <a:endParaRPr lang="en-GB" sz="1875" b="0" i="0" u="none">
              <a:solidFill>
                <a:srgbClr val="637169"/>
              </a:solidFill>
              <a:latin typeface="Inter"/>
            </a:endParaRP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5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35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350"/>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3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2"/>
        </a:solidFill>
        <a:effectLst/>
      </p:bgPr>
    </p:bg>
    <p:spTree>
      <p:nvGrpSpPr>
        <p:cNvPr id="1" name=""/>
        <p:cNvGrpSpPr/>
        <p:nvPr/>
      </p:nvGrpSpPr>
      <p:grpSpPr>
        <a:xfrm>
          <a:off x="0" y="0"/>
          <a:ext cx="0" cy="0"/>
          <a:chOff x="0" y="0"/>
          <a:chExt cx="0" cy="0"/>
        </a:xfrm>
      </p:grpSpPr>
      <p:sp>
        <p:nvSpPr>
          <p:cNvPr id="2" name="Text 2"/>
          <p:cNvSpPr txBox="1"/>
          <p:nvPr/>
        </p:nvSpPr>
        <p:spPr>
          <a:xfrm>
            <a:off x="609600" y="457200"/>
            <a:ext cx="10972800" cy="742950"/>
          </a:xfrm>
          <a:prstGeom prst="rect">
            <a:avLst/>
          </a:prstGeom>
          <a:noFill/>
        </p:spPr>
        <p:txBody>
          <a:bodyPr wrap="square" lIns="0" tIns="0" rIns="0" bIns="0" rtlCol="0" anchor="t">
            <a:noAutofit/>
          </a:bodyPr>
          <a:lstStyle/>
          <a:p>
            <a:pPr algn="l">
              <a:buNone/>
            </a:pPr>
            <a:r>
              <a:rPr lang="en-GB" sz="3450" b="1" i="0" u="none">
                <a:solidFill>
                  <a:srgbClr val="25372E"/>
                </a:solidFill>
                <a:latin typeface="Inter"/>
              </a:rPr>
              <a:t>Project results</a:t>
            </a:r>
            <a:endParaRPr lang="en-GB" sz="3450" b="1" i="0" u="none">
              <a:solidFill>
                <a:srgbClr val="25372E"/>
              </a:solidFill>
              <a:latin typeface="Inter"/>
            </a:endParaRPr>
          </a:p>
        </p:txBody>
      </p:sp>
      <p:sp>
        <p:nvSpPr>
          <p:cNvPr id="3" name="Text 3"/>
          <p:cNvSpPr txBox="1"/>
          <p:nvPr/>
        </p:nvSpPr>
        <p:spPr>
          <a:xfrm>
            <a:off x="609600" y="6496050"/>
            <a:ext cx="457200" cy="228600"/>
          </a:xfrm>
          <a:prstGeom prst="rect">
            <a:avLst/>
          </a:prstGeom>
          <a:noFill/>
        </p:spPr>
        <p:txBody>
          <a:bodyPr wrap="square" lIns="0" tIns="0" rIns="0" bIns="0" rtlCol="0" anchor="t">
            <a:noAutofit/>
          </a:bodyPr>
          <a:lstStyle/>
          <a:p>
            <a:pPr algn="l">
              <a:buNone/>
            </a:pPr>
            <a:r>
              <a:rPr lang="en-GB" sz="1200" b="0" i="0" u="none">
                <a:solidFill>
                  <a:srgbClr val="637169"/>
                </a:solidFill>
                <a:latin typeface="Inter"/>
              </a:rPr>
              <a:t>14</a:t>
            </a:r>
            <a:endParaRPr lang="en-GB" sz="1200" b="0" i="0" u="none">
              <a:solidFill>
                <a:srgbClr val="637169"/>
              </a:solidFill>
              <a:latin typeface="Inter"/>
            </a:endParaRPr>
          </a:p>
        </p:txBody>
      </p:sp>
      <p:sp>
        <p:nvSpPr>
          <p:cNvPr id="4" name="Text 4"/>
          <p:cNvSpPr txBox="1"/>
          <p:nvPr/>
        </p:nvSpPr>
        <p:spPr>
          <a:xfrm>
            <a:off x="609600" y="1733550"/>
            <a:ext cx="109728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A working tracker</a:t>
            </a:r>
            <a:endParaRPr lang="en-GB" sz="2175" b="1" i="0" u="none">
              <a:solidFill>
                <a:srgbClr val="315B48"/>
              </a:solidFill>
              <a:latin typeface="Inter"/>
            </a:endParaRPr>
          </a:p>
        </p:txBody>
      </p:sp>
      <p:sp>
        <p:nvSpPr>
          <p:cNvPr id="5" name="Text 5"/>
          <p:cNvSpPr txBox="1"/>
          <p:nvPr/>
        </p:nvSpPr>
        <p:spPr>
          <a:xfrm>
            <a:off x="609600" y="2247900"/>
            <a:ext cx="10972800" cy="1104900"/>
          </a:xfrm>
          <a:prstGeom prst="rect">
            <a:avLst/>
          </a:prstGeom>
          <a:noFill/>
        </p:spPr>
        <p:txBody>
          <a:bodyPr wrap="square" lIns="0" tIns="0" rIns="0" bIns="0" rtlCol="0" anchor="t">
            <a:noAutofit/>
          </a:bodyPr>
          <a:lstStyle/>
          <a:p>
            <a:pPr algn="l">
              <a:buNone/>
            </a:pPr>
            <a:r>
              <a:rPr lang="en-GB" sz="2325" b="0" i="0" u="none">
                <a:solidFill>
                  <a:srgbClr val="25372E"/>
                </a:solidFill>
                <a:latin typeface="Inter"/>
              </a:rPr>
              <a:t>Tasks and notes stay organised,</a:t>
            </a:r>
            <a:endParaRPr lang="en-GB" sz="2325" b="0" i="0" u="none">
              <a:solidFill>
                <a:srgbClr val="25372E"/>
              </a:solidFill>
              <a:latin typeface="Inter"/>
            </a:endParaRPr>
          </a:p>
          <a:p>
            <a:pPr algn="l">
              <a:buNone/>
            </a:pPr>
            <a:r>
              <a:rPr lang="en-GB" sz="2325" b="0" i="0" u="none">
                <a:solidFill>
                  <a:srgbClr val="25372E"/>
                </a:solidFill>
                <a:latin typeface="Inter"/>
              </a:rPr>
              <a:t>and saved changes survive a refresh.</a:t>
            </a:r>
            <a:endParaRPr lang="en-GB" sz="2325" b="0" i="0" u="none">
              <a:solidFill>
                <a:srgbClr val="25372E"/>
              </a:solidFill>
              <a:latin typeface="Inter"/>
            </a:endParaRPr>
          </a:p>
        </p:txBody>
      </p:sp>
      <p:sp>
        <p:nvSpPr>
          <p:cNvPr id="6" name="Text 6"/>
          <p:cNvSpPr txBox="1"/>
          <p:nvPr/>
        </p:nvSpPr>
        <p:spPr>
          <a:xfrm>
            <a:off x="609600" y="3829050"/>
            <a:ext cx="10972800" cy="419100"/>
          </a:xfrm>
          <a:prstGeom prst="rect">
            <a:avLst/>
          </a:prstGeom>
          <a:noFill/>
        </p:spPr>
        <p:txBody>
          <a:bodyPr wrap="square" lIns="0" tIns="0" rIns="0" bIns="0" rtlCol="0" anchor="t">
            <a:noAutofit/>
          </a:bodyPr>
          <a:lstStyle/>
          <a:p>
            <a:pPr algn="l">
              <a:buNone/>
            </a:pPr>
            <a:r>
              <a:rPr lang="en-GB" sz="2175" b="1" i="0" u="none">
                <a:solidFill>
                  <a:srgbClr val="315B48"/>
                </a:solidFill>
                <a:latin typeface="Inter"/>
              </a:rPr>
              <a:t>A repeatable delivery process</a:t>
            </a:r>
            <a:endParaRPr lang="en-GB" sz="2175" b="1" i="0" u="none">
              <a:solidFill>
                <a:srgbClr val="315B48"/>
              </a:solidFill>
              <a:latin typeface="Inter"/>
            </a:endParaRPr>
          </a:p>
        </p:txBody>
      </p:sp>
      <p:sp>
        <p:nvSpPr>
          <p:cNvPr id="7" name="Text 7"/>
          <p:cNvSpPr txBox="1"/>
          <p:nvPr/>
        </p:nvSpPr>
        <p:spPr>
          <a:xfrm>
            <a:off x="609600" y="4343400"/>
            <a:ext cx="10972800" cy="1104900"/>
          </a:xfrm>
          <a:prstGeom prst="rect">
            <a:avLst/>
          </a:prstGeom>
          <a:noFill/>
        </p:spPr>
        <p:txBody>
          <a:bodyPr wrap="square" lIns="0" tIns="0" rIns="0" bIns="0" rtlCol="0" anchor="t">
            <a:noAutofit/>
          </a:bodyPr>
          <a:lstStyle/>
          <a:p>
            <a:pPr algn="l">
              <a:buNone/>
            </a:pPr>
            <a:r>
              <a:rPr lang="en-GB" sz="2325" b="0" i="0" u="none">
                <a:solidFill>
                  <a:srgbClr val="25372E"/>
                </a:solidFill>
                <a:latin typeface="Inter"/>
              </a:rPr>
              <a:t>Automated checks, packaged releases</a:t>
            </a:r>
            <a:endParaRPr lang="en-GB" sz="2325" b="0" i="0" u="none">
              <a:solidFill>
                <a:srgbClr val="25372E"/>
              </a:solidFill>
              <a:latin typeface="Inter"/>
            </a:endParaRPr>
          </a:p>
          <a:p>
            <a:pPr algn="l">
              <a:buNone/>
            </a:pPr>
            <a:r>
              <a:rPr lang="en-GB" sz="2325" b="0" i="0" u="none">
                <a:solidFill>
                  <a:srgbClr val="25372E"/>
                </a:solidFill>
                <a:latin typeface="Inter"/>
              </a:rPr>
              <a:t>and verified deployment.</a:t>
            </a:r>
            <a:endParaRPr lang="en-GB" sz="2325" b="0" i="0" u="none">
              <a:solidFill>
                <a:srgbClr val="25372E"/>
              </a:solidFill>
              <a:latin typeface="Inter"/>
            </a:endParaRPr>
          </a:p>
        </p:txBody>
      </p:sp>
      <p:sp>
        <p:nvSpPr>
          <p:cNvPr id="8" name="Text 8"/>
          <p:cNvSpPr txBox="1"/>
          <p:nvPr/>
        </p:nvSpPr>
        <p:spPr>
          <a:xfrm>
            <a:off x="609600" y="5905500"/>
            <a:ext cx="10972800" cy="419100"/>
          </a:xfrm>
          <a:prstGeom prst="rect">
            <a:avLst/>
          </a:prstGeom>
          <a:noFill/>
        </p:spPr>
        <p:txBody>
          <a:bodyPr wrap="square" lIns="0" tIns="0" rIns="0" bIns="0" rtlCol="0" anchor="t">
            <a:noAutofit/>
          </a:bodyPr>
          <a:lstStyle/>
          <a:p>
            <a:pPr algn="l">
              <a:buNone/>
            </a:pPr>
            <a:r>
              <a:rPr lang="en-GB" sz="2025" b="0" i="0" u="none">
                <a:solidFill>
                  <a:srgbClr val="315B48"/>
                </a:solidFill>
                <a:latin typeface="Inter"/>
                <a:hlinkClick r:id="rId2"/>
              </a:rPr>
              <a:t>github.com/vedanshun05/devops-heros</a:t>
            </a:r>
            <a:endParaRPr lang="en-GB" sz="2025" b="0" i="0" u="none">
              <a:solidFill>
                <a:srgbClr val="315B48"/>
              </a:solidFill>
              <a:latin typeface="Inter"/>
            </a:endParaRPr>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5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FFFFFF"/>
      </a:lt2>
      <a:accent1>
        <a:srgbClr val="156082"/>
      </a:accent1>
      <a:accent2>
        <a:srgbClr val="719AAB"/>
      </a:accent2>
      <a:accent3>
        <a:srgbClr val="466B75"/>
      </a:accent3>
      <a:accent4>
        <a:srgbClr val="7B8394"/>
      </a:accent4>
      <a:accent5>
        <a:srgbClr val="58617A"/>
      </a:accent5>
      <a:accent6>
        <a:srgbClr val="8C949C"/>
      </a:accent6>
      <a:hlink>
        <a:srgbClr val="156082"/>
      </a:hlink>
      <a:folHlink>
        <a:srgbClr val="0E2841"/>
      </a:folHlink>
    </a:clrScheme>
    <a:fontScheme name="ChatGPT">
      <a:majorFont>
        <a:latin typeface="Inter"/>
        <a:ea typeface=""/>
        <a:cs typeface=""/>
      </a:majorFont>
      <a:minorFont>
        <a:latin typeface="Inter"/>
        <a:ea typeface=""/>
        <a:cs typeface=""/>
      </a:minorFont>
    </a:fontScheme>
    <a:fmtScheme name="ChatGPT">
      <a:fillStyleLst>
        <a:solidFill>
          <a:schemeClr val="phClr"/>
        </a:solidFill>
        <a:solidFill>
          <a:schemeClr val="phClr"/>
        </a:solidFill>
        <a:solidFill>
          <a:schemeClr val="phClr"/>
        </a:soli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name="Notes">
  <a:themeElements>
    <a:clrScheme name="Notes">
      <a:dk1>
        <a:srgbClr val="000000"/>
      </a:dk1>
      <a:lt1>
        <a:srgbClr val="FFFFFF"/>
      </a:lt1>
      <a:dk2>
        <a:srgbClr val="0E2841"/>
      </a:dk2>
      <a:lt2>
        <a:srgbClr val="FFFFFF"/>
      </a:lt2>
      <a:accent1>
        <a:srgbClr val="156082"/>
      </a:accent1>
      <a:accent2>
        <a:srgbClr val="719AAB"/>
      </a:accent2>
      <a:accent3>
        <a:srgbClr val="466B75"/>
      </a:accent3>
      <a:accent4>
        <a:srgbClr val="7B8394"/>
      </a:accent4>
      <a:accent5>
        <a:srgbClr val="58617A"/>
      </a:accent5>
      <a:accent6>
        <a:srgbClr val="8C949C"/>
      </a:accent6>
      <a:hlink>
        <a:srgbClr val="156082"/>
      </a:hlink>
      <a:folHlink>
        <a:srgbClr val="0E2841"/>
      </a:folHlink>
    </a:clrScheme>
    <a:fontScheme name="Notes">
      <a:majorFont>
        <a:latin typeface="Inter"/>
        <a:ea typeface=""/>
        <a:cs typeface=""/>
      </a:majorFont>
      <a:minorFont>
        <a:latin typeface="Inter"/>
        <a:ea typeface=""/>
        <a:cs typeface=""/>
      </a:minorFont>
    </a:fontScheme>
    <a:fmtScheme name="Notes">
      <a:fillStyleLst>
        <a:solidFill>
          <a:schemeClr val="phClr"/>
        </a:solidFill>
        <a:solidFill>
          <a:schemeClr val="phClr"/>
        </a:solidFill>
        <a:solidFill>
          <a:schemeClr val="phClr"/>
        </a:soli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